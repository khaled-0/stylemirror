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714825" y="1371600"/>
            <a:ext cx="6858325" cy="6858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028700" y="8686800"/>
            <a:ext cx="8229600" cy="82296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Calibri"/>
                <a:ea typeface="Calibri"/>
                <a:cs typeface="Calibri"/>
                <a:sym typeface="Calibri"/>
              </a:rPr>
              <a:t>Welcome the committee, introduce yourself and the thesis title.</a:t>
            </a:r>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 name="Google Shape;2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Walk through the outline in one breath, don't linger.</a:t>
            </a:r>
            <a:endParaRPr/>
          </a:p>
        </p:txBody>
      </p:sp>
      <p:sp>
        <p:nvSpPr>
          <p:cNvPr id="30" name="Google Shape;3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2</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 name="Google Shape;70;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rPr>
              <a:t>Good morning/afternoon.</a:t>
            </a:r>
            <a:endParaRPr sz="1100">
              <a:solidFill>
                <a:schemeClr val="dk1"/>
              </a:solidFill>
            </a:endParaRPr>
          </a:p>
          <a:p>
            <a:pPr marL="0" marR="0" lvl="0" indent="0" algn="l" rtl="0">
              <a:spcBef>
                <a:spcPts val="0"/>
              </a:spcBef>
              <a:spcAft>
                <a:spcPts val="0"/>
              </a:spcAft>
              <a:buNone/>
            </a:pPr>
            <a:r>
              <a:rPr lang="en-US" sz="1100">
                <a:solidFill>
                  <a:schemeClr val="dk1"/>
                </a:solidFill>
              </a:rPr>
              <a:t>My project, StyleMirror, addresses a massive pain point in e-commerce: the inability to 'try before you buy' online. While AI can solve this, my research focuses not on inventing a new AI model, but on solving the systems engineering bottleneck required to actually deploy these heavy AI models onto the web in real-time.</a:t>
            </a:r>
            <a:endParaRPr/>
          </a:p>
        </p:txBody>
      </p:sp>
      <p:sp>
        <p:nvSpPr>
          <p:cNvPr id="71" name="Google Shape;71;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State the gap in one sentence, then the supporting points.</a:t>
            </a:r>
            <a:endParaRPr/>
          </a:p>
        </p:txBody>
      </p:sp>
      <p:sp>
        <p:nvSpPr>
          <p:cNvPr id="90" name="Google Shape;90;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Each objective should map to a result you'll show later.</a:t>
            </a:r>
            <a:endParaRPr/>
          </a:p>
        </p:txBody>
      </p:sp>
      <p:sp>
        <p:nvSpPr>
          <p:cNvPr id="110" name="Google Shape;11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rPr>
              <a:t>As we can see in the literature, the field has moved from GANs to Diffusion models, achieving great visual quality. However, the trade-off is severe latency. My project bridges this gap by taking a flexible Foundation Model and wrapping it in an optimized web architecture.</a:t>
            </a:r>
            <a:endParaRPr/>
          </a:p>
        </p:txBody>
      </p:sp>
      <p:sp>
        <p:nvSpPr>
          <p:cNvPr id="133" name="Google Shape;133;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 name="Google Shape;16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Walk left to right through the pipeline.</a:t>
            </a:r>
            <a:endParaRPr/>
          </a:p>
        </p:txBody>
      </p:sp>
      <p:sp>
        <p:nvSpPr>
          <p:cNvPr id="163" name="Google Shape;163;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6" name="Google Shape;196;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Point to each layer/module as you name it.</a:t>
            </a:r>
            <a:endParaRPr/>
          </a:p>
        </p:txBody>
      </p:sp>
      <p:sp>
        <p:nvSpPr>
          <p:cNvPr id="197" name="Google Shape;197;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rPr>
              <a:t>A key implementation decision was how we handle the asynchronous task queue. While many systems default to adding an external broker like Redis, we realized that Golang’s native concurrency model—using goroutines and channels—was more than capable of managing the queue directly to the Python AI pipeline. By doing this, we eliminated the need for an external dependency, which significantly reduced our infrastructure overhead, lowered the memory footprint on the VPS, and simplified our deployment, all while keeping the web server completely non-blocking.</a:t>
            </a:r>
            <a:endParaRPr/>
          </a:p>
        </p:txBody>
      </p:sp>
      <p:sp>
        <p:nvSpPr>
          <p:cNvPr id="210" name="Google Shape;210;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0" name="Google Shape;240;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00">
                <a:solidFill>
                  <a:schemeClr val="dk1"/>
                </a:solidFill>
              </a:rPr>
              <a:t>First, for </a:t>
            </a:r>
            <a:r>
              <a:rPr lang="en-US" sz="1100" b="1">
                <a:solidFill>
                  <a:schemeClr val="dk1"/>
                </a:solidFill>
              </a:rPr>
              <a:t>System Performance</a:t>
            </a:r>
            <a:r>
              <a:rPr lang="en-US" sz="1100">
                <a:solidFill>
                  <a:schemeClr val="dk1"/>
                </a:solidFill>
              </a:rPr>
              <a:t>, our decoupled architecture proved highly resilient. We achieved an end-to-end latency of roughly 7 seconds. While this isn't 'real-time' in the traditional web sense, it is the industry standard for high-fidelity generative AI, and our reactive SvelteKit frontend ensures the user never experiences a frozen screen. Crucially, our load testing showed the Golang backend handled 50+ concurrent requests with zero HTTP 503 errors, while maintaining a tiny memory footprint of under 50 MB, proving this is viable for cost-effective VPS deployment.</a:t>
            </a:r>
            <a:br>
              <a:rPr lang="en-US" sz="1100">
                <a:solidFill>
                  <a:schemeClr val="dk1"/>
                </a:solidFill>
              </a:rPr>
            </a:br>
            <a:endParaRPr sz="11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100">
                <a:solidFill>
                  <a:schemeClr val="dk1"/>
                </a:solidFill>
              </a:rPr>
              <a:t>Second, for </a:t>
            </a:r>
            <a:r>
              <a:rPr lang="en-US" sz="1100" b="1">
                <a:solidFill>
                  <a:schemeClr val="dk1"/>
                </a:solidFill>
              </a:rPr>
              <a:t>Visual Fidelity</a:t>
            </a:r>
            <a:r>
              <a:rPr lang="en-US" sz="1100">
                <a:solidFill>
                  <a:schemeClr val="dk1"/>
                </a:solidFill>
              </a:rPr>
              <a:t>, we didn't sacrifice quality for speed. Our pipeline achieved an SSIM of 0.86 and an LPIPS of 0.12. This means the system successfully preserved the intricate textures and patterns of the input garments while naturally adapting them to the user's pose, matching the quality of dedicated academic VTON models.</a:t>
            </a:r>
            <a:endParaRPr sz="1100">
              <a:solidFill>
                <a:schemeClr val="dk1"/>
              </a:solidFill>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1" name="Google Shape;241;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3" name="Google Shape;263;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Highlight the row/column where your approach wins.</a:t>
            </a:r>
            <a:endParaRPr/>
          </a:p>
        </p:txBody>
      </p:sp>
      <p:sp>
        <p:nvSpPr>
          <p:cNvPr id="264" name="Google Shape;264;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8" name="Google Shape;298;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Close the loop back to the objectives on slide 5.</a:t>
            </a:r>
            <a:endParaRPr/>
          </a:p>
        </p:txBody>
      </p:sp>
      <p:sp>
        <p:nvSpPr>
          <p:cNvPr id="299" name="Google Shape;299;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No need to read these aloud — keep for committee reference.</a:t>
            </a:r>
            <a:endParaRPr/>
          </a:p>
        </p:txBody>
      </p:sp>
      <p:sp>
        <p:nvSpPr>
          <p:cNvPr id="325" name="Google Shape;325;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13</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Keep this brief and sincere.</a:t>
            </a:r>
            <a:endParaRPr/>
          </a:p>
        </p:txBody>
      </p:sp>
      <p:sp>
        <p:nvSpPr>
          <p:cNvPr id="341" name="Google Shape;341;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Invite questions from the committee.</a:t>
            </a:r>
            <a:endParaRPr/>
          </a:p>
        </p:txBody>
      </p:sp>
      <p:sp>
        <p:nvSpPr>
          <p:cNvPr id="353" name="Google Shape;353;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15</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00FF"/>
        </a:solidFill>
        <a:effectLst/>
      </p:bgPr>
    </p:bg>
    <p:spTree>
      <p:nvGrpSpPr>
        <p:cNvPr id="1" name="Shape 11"/>
        <p:cNvGrpSpPr/>
        <p:nvPr/>
      </p:nvGrpSpPr>
      <p:grpSpPr>
        <a:xfrm>
          <a:off x="0" y="0"/>
          <a:ext cx="0" cy="0"/>
          <a:chOff x="0" y="0"/>
          <a:chExt cx="0" cy="0"/>
        </a:xfrm>
      </p:grpSpPr>
      <p:sp>
        <p:nvSpPr>
          <p:cNvPr id="12" name="Google Shape;12;p3"/>
          <p:cNvSpPr/>
          <p:nvPr/>
        </p:nvSpPr>
        <p:spPr>
          <a:xfrm>
            <a:off x="14097000" y="-1714500"/>
            <a:ext cx="5905500" cy="5905500"/>
          </a:xfrm>
          <a:prstGeom prst="ellipse">
            <a:avLst/>
          </a:prstGeom>
          <a:solidFill>
            <a:srgbClr val="FFFFFF">
              <a:alpha val="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3"/>
          <p:cNvSpPr/>
          <p:nvPr/>
        </p:nvSpPr>
        <p:spPr>
          <a:xfrm>
            <a:off x="-1333500" y="7810500"/>
            <a:ext cx="4572000" cy="4572000"/>
          </a:xfrm>
          <a:prstGeom prst="ellipse">
            <a:avLst/>
          </a:prstGeom>
          <a:solidFill>
            <a:srgbClr val="FFFFFF">
              <a:alpha val="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14;p3" descr="preencoded.png"/>
          <p:cNvPicPr preferRelativeResize="0"/>
          <p:nvPr/>
        </p:nvPicPr>
        <p:blipFill rotWithShape="1">
          <a:blip r:embed="rId3">
            <a:alphaModFix/>
          </a:blip>
          <a:srcRect/>
          <a:stretch/>
        </p:blipFill>
        <p:spPr>
          <a:xfrm>
            <a:off x="1047750" y="800100"/>
            <a:ext cx="1279446" cy="704850"/>
          </a:xfrm>
          <a:prstGeom prst="rect">
            <a:avLst/>
          </a:prstGeom>
          <a:noFill/>
          <a:ln>
            <a:noFill/>
          </a:ln>
        </p:spPr>
      </p:pic>
      <p:sp>
        <p:nvSpPr>
          <p:cNvPr id="15" name="Google Shape;15;p3"/>
          <p:cNvSpPr/>
          <p:nvPr/>
        </p:nvSpPr>
        <p:spPr>
          <a:xfrm>
            <a:off x="1047750" y="3308271"/>
            <a:ext cx="1634490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1875"/>
              <a:buFont typeface="Arial"/>
              <a:buNone/>
            </a:pPr>
            <a:r>
              <a:rPr lang="en-US" sz="1875" b="1" i="0" u="none" strike="noStrike" cap="none">
                <a:solidFill>
                  <a:srgbClr val="FFFFFF"/>
                </a:solidFill>
                <a:latin typeface="Arial"/>
                <a:ea typeface="Arial"/>
                <a:cs typeface="Arial"/>
                <a:sym typeface="Arial"/>
              </a:rPr>
              <a:t>DEPARTMENT OF COMPUTER SCIENCE &amp; ENGINEERING · UTTARA UNIVERSITY</a:t>
            </a:r>
            <a:endParaRPr sz="1875" b="0" i="0" u="none" strike="noStrike" cap="none">
              <a:solidFill>
                <a:schemeClr val="dk1"/>
              </a:solidFill>
              <a:latin typeface="Calibri"/>
              <a:ea typeface="Calibri"/>
              <a:cs typeface="Calibri"/>
              <a:sym typeface="Calibri"/>
            </a:endParaRPr>
          </a:p>
        </p:txBody>
      </p:sp>
      <p:sp>
        <p:nvSpPr>
          <p:cNvPr id="16" name="Google Shape;16;p3"/>
          <p:cNvSpPr/>
          <p:nvPr/>
        </p:nvSpPr>
        <p:spPr>
          <a:xfrm>
            <a:off x="1047750" y="3868341"/>
            <a:ext cx="15304770" cy="1807369"/>
          </a:xfrm>
          <a:prstGeom prst="rect">
            <a:avLst/>
          </a:prstGeom>
          <a:noFill/>
          <a:ln>
            <a:noFill/>
          </a:ln>
        </p:spPr>
        <p:txBody>
          <a:bodyPr spcFirstLastPara="1" wrap="square" lIns="25400" tIns="25400" rIns="25400" bIns="25400" anchor="t" anchorCtr="0">
            <a:noAutofit/>
          </a:bodyPr>
          <a:lstStyle/>
          <a:p>
            <a:pPr marL="0" marR="0" lvl="0" indent="0" algn="l" rtl="0">
              <a:lnSpc>
                <a:spcPct val="76887"/>
              </a:lnSpc>
              <a:spcBef>
                <a:spcPts val="0"/>
              </a:spcBef>
              <a:spcAft>
                <a:spcPts val="0"/>
              </a:spcAft>
              <a:buClr>
                <a:srgbClr val="FFFFFF"/>
              </a:buClr>
              <a:buSzPts val="6450"/>
              <a:buFont typeface="Arial"/>
              <a:buNone/>
            </a:pPr>
            <a:r>
              <a:rPr lang="en-US" sz="5150" b="1">
                <a:solidFill>
                  <a:srgbClr val="FFFFFF"/>
                </a:solidFill>
              </a:rPr>
              <a:t>StyleMirror: An AI-Based Virtual Outfit Visualization System for Modern Fashion Platforms</a:t>
            </a:r>
            <a:endParaRPr sz="5150" b="0" i="0" u="none" strike="noStrike" cap="none">
              <a:solidFill>
                <a:schemeClr val="dk1"/>
              </a:solidFill>
              <a:latin typeface="Calibri"/>
              <a:ea typeface="Calibri"/>
              <a:cs typeface="Calibri"/>
              <a:sym typeface="Calibri"/>
            </a:endParaRPr>
          </a:p>
        </p:txBody>
      </p:sp>
      <p:sp>
        <p:nvSpPr>
          <p:cNvPr id="17" name="Google Shape;17;p3"/>
          <p:cNvSpPr/>
          <p:nvPr/>
        </p:nvSpPr>
        <p:spPr>
          <a:xfrm>
            <a:off x="1047750" y="5923359"/>
            <a:ext cx="12573000" cy="544830"/>
          </a:xfrm>
          <a:prstGeom prst="rect">
            <a:avLst/>
          </a:prstGeom>
          <a:noFill/>
          <a:ln>
            <a:noFill/>
          </a:ln>
        </p:spPr>
        <p:txBody>
          <a:bodyPr spcFirstLastPara="1" wrap="square" lIns="25400" tIns="25400" rIns="25400" bIns="25400" anchor="t" anchorCtr="0">
            <a:noAutofit/>
          </a:bodyPr>
          <a:lstStyle/>
          <a:p>
            <a:pPr marL="0" marR="0" lvl="0" indent="0" algn="l" rtl="0">
              <a:lnSpc>
                <a:spcPct val="120909"/>
              </a:lnSpc>
              <a:spcBef>
                <a:spcPts val="0"/>
              </a:spcBef>
              <a:spcAft>
                <a:spcPts val="0"/>
              </a:spcAft>
              <a:buClr>
                <a:srgbClr val="FFFFFF"/>
              </a:buClr>
              <a:buSzPts val="2850"/>
              <a:buFont typeface="Arial"/>
              <a:buNone/>
            </a:pPr>
            <a:r>
              <a:rPr lang="en-US" sz="2850">
                <a:solidFill>
                  <a:srgbClr val="FFFFFF"/>
                </a:solidFill>
              </a:rPr>
              <a:t>Bridging the gap between research-level image generation and industry-ready e-commerce deployment.</a:t>
            </a:r>
            <a:endParaRPr sz="2850" b="0" i="0" u="none" strike="noStrike" cap="none">
              <a:solidFill>
                <a:schemeClr val="dk1"/>
              </a:solidFill>
              <a:latin typeface="Calibri"/>
              <a:ea typeface="Calibri"/>
              <a:cs typeface="Calibri"/>
              <a:sym typeface="Calibri"/>
            </a:endParaRPr>
          </a:p>
        </p:txBody>
      </p:sp>
      <p:sp>
        <p:nvSpPr>
          <p:cNvPr id="18" name="Google Shape;18;p3"/>
          <p:cNvSpPr/>
          <p:nvPr/>
        </p:nvSpPr>
        <p:spPr>
          <a:xfrm>
            <a:off x="1047750" y="8233410"/>
            <a:ext cx="16192500" cy="9525"/>
          </a:xfrm>
          <a:prstGeom prst="rect">
            <a:avLst/>
          </a:prstGeom>
          <a:solidFill>
            <a:srgbClr val="FFFFFF">
              <a:alpha val="2196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1047750" y="8622030"/>
            <a:ext cx="5488245"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1650"/>
              <a:buFont typeface="Arial"/>
              <a:buNone/>
            </a:pPr>
            <a:r>
              <a:rPr lang="en-US" sz="1650" b="0" i="0" u="none" strike="noStrike" cap="none">
                <a:solidFill>
                  <a:srgbClr val="FFFFFF"/>
                </a:solidFill>
                <a:latin typeface="Arial"/>
                <a:ea typeface="Arial"/>
                <a:cs typeface="Arial"/>
                <a:sym typeface="Arial"/>
              </a:rPr>
              <a:t>PRESENTED BY</a:t>
            </a:r>
            <a:endParaRPr sz="1650" b="0" i="0" u="none" strike="noStrike" cap="none">
              <a:solidFill>
                <a:schemeClr val="dk1"/>
              </a:solidFill>
              <a:latin typeface="Calibri"/>
              <a:ea typeface="Calibri"/>
              <a:cs typeface="Calibri"/>
              <a:sym typeface="Calibri"/>
            </a:endParaRPr>
          </a:p>
        </p:txBody>
      </p:sp>
      <p:sp>
        <p:nvSpPr>
          <p:cNvPr id="20" name="Google Shape;20;p3"/>
          <p:cNvSpPr/>
          <p:nvPr/>
        </p:nvSpPr>
        <p:spPr>
          <a:xfrm>
            <a:off x="1047750" y="8942070"/>
            <a:ext cx="5488245"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2250"/>
              <a:buFont typeface="Arial"/>
              <a:buNone/>
            </a:pPr>
            <a:r>
              <a:rPr lang="en-US" sz="2250" b="1">
                <a:solidFill>
                  <a:srgbClr val="FFFFFF"/>
                </a:solidFill>
              </a:rPr>
              <a:t>MD. KHALED AHMED SANTO</a:t>
            </a:r>
            <a:endParaRPr sz="2250" b="0" i="0" u="none" strike="noStrike" cap="none">
              <a:solidFill>
                <a:schemeClr val="dk1"/>
              </a:solidFill>
              <a:latin typeface="Calibri"/>
              <a:ea typeface="Calibri"/>
              <a:cs typeface="Calibri"/>
              <a:sym typeface="Calibri"/>
            </a:endParaRPr>
          </a:p>
        </p:txBody>
      </p:sp>
      <p:sp>
        <p:nvSpPr>
          <p:cNvPr id="21" name="Google Shape;21;p3"/>
          <p:cNvSpPr/>
          <p:nvPr/>
        </p:nvSpPr>
        <p:spPr>
          <a:xfrm>
            <a:off x="1047750" y="9345930"/>
            <a:ext cx="5488245"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1875"/>
              <a:buFont typeface="Arial"/>
              <a:buNone/>
            </a:pPr>
            <a:r>
              <a:rPr lang="en-US" sz="1875">
                <a:solidFill>
                  <a:srgbClr val="FFFFFF"/>
                </a:solidFill>
              </a:rPr>
              <a:t>ID: 2222081069 · B.Sc. in CSE</a:t>
            </a:r>
            <a:endParaRPr sz="1875" b="0" i="0" u="none" strike="noStrike" cap="none">
              <a:solidFill>
                <a:schemeClr val="dk1"/>
              </a:solidFill>
              <a:latin typeface="Calibri"/>
              <a:ea typeface="Calibri"/>
              <a:cs typeface="Calibri"/>
              <a:sym typeface="Calibri"/>
            </a:endParaRPr>
          </a:p>
        </p:txBody>
      </p:sp>
      <p:sp>
        <p:nvSpPr>
          <p:cNvPr id="22" name="Google Shape;22;p3"/>
          <p:cNvSpPr/>
          <p:nvPr/>
        </p:nvSpPr>
        <p:spPr>
          <a:xfrm>
            <a:off x="6799064" y="8622030"/>
            <a:ext cx="3203234"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1650"/>
              <a:buFont typeface="Arial"/>
              <a:buNone/>
            </a:pPr>
            <a:r>
              <a:rPr lang="en-US" sz="1650" b="0" i="0" u="none" strike="noStrike" cap="none">
                <a:solidFill>
                  <a:srgbClr val="FFFFFF"/>
                </a:solidFill>
                <a:latin typeface="Arial"/>
                <a:ea typeface="Arial"/>
                <a:cs typeface="Arial"/>
                <a:sym typeface="Arial"/>
              </a:rPr>
              <a:t>SUPERVISED BY</a:t>
            </a:r>
            <a:endParaRPr sz="1650" b="0" i="0" u="none" strike="noStrike" cap="none">
              <a:solidFill>
                <a:schemeClr val="dk1"/>
              </a:solidFill>
              <a:latin typeface="Calibri"/>
              <a:ea typeface="Calibri"/>
              <a:cs typeface="Calibri"/>
              <a:sym typeface="Calibri"/>
            </a:endParaRPr>
          </a:p>
        </p:txBody>
      </p:sp>
      <p:sp>
        <p:nvSpPr>
          <p:cNvPr id="23" name="Google Shape;23;p3"/>
          <p:cNvSpPr/>
          <p:nvPr/>
        </p:nvSpPr>
        <p:spPr>
          <a:xfrm>
            <a:off x="6799084" y="8942076"/>
            <a:ext cx="5736600" cy="365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2250"/>
              <a:buFont typeface="Arial"/>
              <a:buNone/>
            </a:pPr>
            <a:r>
              <a:rPr lang="en-US" sz="2250" b="1">
                <a:solidFill>
                  <a:srgbClr val="FFFFFF"/>
                </a:solidFill>
              </a:rPr>
              <a:t>Dr. Mohammad Amanul Islam</a:t>
            </a:r>
            <a:endParaRPr sz="2250" b="0" i="0" u="none" strike="noStrike" cap="none">
              <a:solidFill>
                <a:schemeClr val="dk1"/>
              </a:solidFill>
              <a:latin typeface="Calibri"/>
              <a:ea typeface="Calibri"/>
              <a:cs typeface="Calibri"/>
              <a:sym typeface="Calibri"/>
            </a:endParaRPr>
          </a:p>
        </p:txBody>
      </p:sp>
      <p:sp>
        <p:nvSpPr>
          <p:cNvPr id="24" name="Google Shape;24;p3"/>
          <p:cNvSpPr/>
          <p:nvPr/>
        </p:nvSpPr>
        <p:spPr>
          <a:xfrm>
            <a:off x="6799081" y="9345925"/>
            <a:ext cx="5103000" cy="3123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1875"/>
              <a:buFont typeface="Arial"/>
              <a:buNone/>
            </a:pPr>
            <a:r>
              <a:rPr lang="en-US" sz="1875">
                <a:solidFill>
                  <a:srgbClr val="FFFFFF"/>
                </a:solidFill>
              </a:rPr>
              <a:t>Assistant Professor, Dept. of CSE</a:t>
            </a:r>
            <a:endParaRPr sz="1875" b="0" i="0" u="none" strike="noStrike" cap="none">
              <a:solidFill>
                <a:schemeClr val="dk1"/>
              </a:solidFill>
              <a:latin typeface="Calibri"/>
              <a:ea typeface="Calibri"/>
              <a:cs typeface="Calibri"/>
              <a:sym typeface="Calibri"/>
            </a:endParaRPr>
          </a:p>
        </p:txBody>
      </p:sp>
      <p:sp>
        <p:nvSpPr>
          <p:cNvPr id="25" name="Google Shape;25;p3"/>
          <p:cNvSpPr/>
          <p:nvPr/>
        </p:nvSpPr>
        <p:spPr>
          <a:xfrm>
            <a:off x="14843051" y="9071610"/>
            <a:ext cx="2397199" cy="586740"/>
          </a:xfrm>
          <a:prstGeom prst="rect">
            <a:avLst/>
          </a:prstGeom>
          <a:noFill/>
          <a:ln>
            <a:noFill/>
          </a:ln>
        </p:spPr>
        <p:txBody>
          <a:bodyPr spcFirstLastPara="1" wrap="square" lIns="25400" tIns="25400" rIns="25400" bIns="25400" anchor="t" anchorCtr="0">
            <a:noAutofit/>
          </a:bodyPr>
          <a:lstStyle/>
          <a:p>
            <a:pPr marL="0" marR="0" lvl="0" indent="0" algn="r" rtl="0">
              <a:spcBef>
                <a:spcPts val="0"/>
              </a:spcBef>
              <a:spcAft>
                <a:spcPts val="0"/>
              </a:spcAft>
              <a:buClr>
                <a:srgbClr val="FFFFFF"/>
              </a:buClr>
              <a:buSzPts val="1875"/>
              <a:buFont typeface="Arial"/>
              <a:buNone/>
            </a:pPr>
            <a:r>
              <a:rPr lang="en-US" sz="1875" b="0" i="0" u="none" strike="noStrike" cap="none" dirty="0">
                <a:solidFill>
                  <a:srgbClr val="FFFFFF"/>
                </a:solidFill>
                <a:latin typeface="Arial"/>
                <a:ea typeface="Arial"/>
                <a:cs typeface="Arial"/>
                <a:sym typeface="Arial"/>
              </a:rPr>
              <a:t>Project Defense</a:t>
            </a:r>
            <a:endParaRPr lang="en-US" sz="1875" dirty="0">
              <a:solidFill>
                <a:srgbClr val="FFFFFF"/>
              </a:solidFill>
            </a:endParaRPr>
          </a:p>
          <a:p>
            <a:pPr marL="0" marR="0" lvl="0" indent="0" algn="r" rtl="0">
              <a:spcBef>
                <a:spcPts val="0"/>
              </a:spcBef>
              <a:spcAft>
                <a:spcPts val="0"/>
              </a:spcAft>
              <a:buClr>
                <a:srgbClr val="FFFFFF"/>
              </a:buClr>
              <a:buSzPts val="1875"/>
              <a:buFont typeface="Arial"/>
              <a:buNone/>
            </a:pPr>
            <a:r>
              <a:rPr lang="en-US" sz="1875" dirty="0">
                <a:solidFill>
                  <a:srgbClr val="FFFFFF"/>
                </a:solidFill>
              </a:rPr>
              <a:t>July 2026</a:t>
            </a:r>
            <a:endParaRPr sz="1875" b="0" i="0" u="none" strike="noStrike" cap="none" dirty="0">
              <a:solidFill>
                <a:schemeClr val="dk1"/>
              </a:solidFill>
              <a:latin typeface="Calibri"/>
              <a:ea typeface="Calibri"/>
              <a:cs typeface="Calibri"/>
              <a:sym typeface="Calibri"/>
            </a:endParaRPr>
          </a:p>
        </p:txBody>
      </p:sp>
      <p:pic>
        <p:nvPicPr>
          <p:cNvPr id="26" name="Google Shape;26;p3"/>
          <p:cNvPicPr preferRelativeResize="0"/>
          <p:nvPr/>
        </p:nvPicPr>
        <p:blipFill rotWithShape="1">
          <a:blip r:embed="rId4">
            <a:alphaModFix/>
          </a:blip>
          <a:srcRect/>
          <a:stretch/>
        </p:blipFill>
        <p:spPr>
          <a:xfrm>
            <a:off x="952499" y="868680"/>
            <a:ext cx="2491031" cy="137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
        <p:cNvGrpSpPr/>
        <p:nvPr/>
      </p:nvGrpSpPr>
      <p:grpSpPr>
        <a:xfrm>
          <a:off x="0" y="0"/>
          <a:ext cx="0" cy="0"/>
          <a:chOff x="0" y="0"/>
          <a:chExt cx="0" cy="0"/>
        </a:xfrm>
      </p:grpSpPr>
      <p:sp>
        <p:nvSpPr>
          <p:cNvPr id="32" name="Google Shape;32;p4"/>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PRESENTATION OUTLINE</a:t>
            </a:r>
            <a:endParaRPr sz="1875">
              <a:solidFill>
                <a:schemeClr val="dk1"/>
              </a:solidFill>
              <a:latin typeface="Calibri"/>
              <a:ea typeface="Calibri"/>
              <a:cs typeface="Calibri"/>
              <a:sym typeface="Calibri"/>
            </a:endParaRPr>
          </a:p>
        </p:txBody>
      </p:sp>
      <p:sp>
        <p:nvSpPr>
          <p:cNvPr id="33" name="Google Shape;33;p4"/>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What We'll Cover</a:t>
            </a:r>
            <a:endParaRPr sz="4500">
              <a:solidFill>
                <a:schemeClr val="dk1"/>
              </a:solidFill>
              <a:latin typeface="Calibri"/>
              <a:ea typeface="Calibri"/>
              <a:cs typeface="Calibri"/>
              <a:sym typeface="Calibri"/>
            </a:endParaRPr>
          </a:p>
        </p:txBody>
      </p:sp>
      <p:sp>
        <p:nvSpPr>
          <p:cNvPr id="34" name="Google Shape;34;p4"/>
          <p:cNvSpPr/>
          <p:nvPr/>
        </p:nvSpPr>
        <p:spPr>
          <a:xfrm>
            <a:off x="1047750" y="437959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1047750" y="382333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01</a:t>
            </a:r>
            <a:endParaRPr sz="2550">
              <a:solidFill>
                <a:schemeClr val="dk1"/>
              </a:solidFill>
              <a:latin typeface="Calibri"/>
              <a:ea typeface="Calibri"/>
              <a:cs typeface="Calibri"/>
              <a:sym typeface="Calibri"/>
            </a:endParaRPr>
          </a:p>
        </p:txBody>
      </p:sp>
      <p:sp>
        <p:nvSpPr>
          <p:cNvPr id="36" name="Google Shape;36;p4"/>
          <p:cNvSpPr/>
          <p:nvPr/>
        </p:nvSpPr>
        <p:spPr>
          <a:xfrm>
            <a:off x="1809750" y="3853815"/>
            <a:ext cx="4068675"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Introduction &amp; Background</a:t>
            </a:r>
            <a:endParaRPr sz="2250">
              <a:solidFill>
                <a:schemeClr val="dk1"/>
              </a:solidFill>
              <a:latin typeface="Calibri"/>
              <a:ea typeface="Calibri"/>
              <a:cs typeface="Calibri"/>
              <a:sym typeface="Calibri"/>
            </a:endParaRPr>
          </a:p>
        </p:txBody>
      </p:sp>
      <p:sp>
        <p:nvSpPr>
          <p:cNvPr id="37" name="Google Shape;37;p4"/>
          <p:cNvSpPr/>
          <p:nvPr/>
        </p:nvSpPr>
        <p:spPr>
          <a:xfrm>
            <a:off x="9525000" y="437959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9525000" y="382333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02</a:t>
            </a:r>
            <a:endParaRPr sz="2550">
              <a:solidFill>
                <a:schemeClr val="dk1"/>
              </a:solidFill>
              <a:latin typeface="Calibri"/>
              <a:ea typeface="Calibri"/>
              <a:cs typeface="Calibri"/>
              <a:sym typeface="Calibri"/>
            </a:endParaRPr>
          </a:p>
        </p:txBody>
      </p:sp>
      <p:sp>
        <p:nvSpPr>
          <p:cNvPr id="39" name="Google Shape;39;p4"/>
          <p:cNvSpPr/>
          <p:nvPr/>
        </p:nvSpPr>
        <p:spPr>
          <a:xfrm>
            <a:off x="10287000" y="3853815"/>
            <a:ext cx="2864548"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Problem Statement</a:t>
            </a:r>
            <a:endParaRPr sz="2250">
              <a:solidFill>
                <a:schemeClr val="dk1"/>
              </a:solidFill>
              <a:latin typeface="Calibri"/>
              <a:ea typeface="Calibri"/>
              <a:cs typeface="Calibri"/>
              <a:sym typeface="Calibri"/>
            </a:endParaRPr>
          </a:p>
        </p:txBody>
      </p:sp>
      <p:sp>
        <p:nvSpPr>
          <p:cNvPr id="40" name="Google Shape;40;p4"/>
          <p:cNvSpPr/>
          <p:nvPr/>
        </p:nvSpPr>
        <p:spPr>
          <a:xfrm>
            <a:off x="1047750" y="517207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1047750" y="461581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03</a:t>
            </a:r>
            <a:endParaRPr sz="2550">
              <a:solidFill>
                <a:schemeClr val="dk1"/>
              </a:solidFill>
              <a:latin typeface="Calibri"/>
              <a:ea typeface="Calibri"/>
              <a:cs typeface="Calibri"/>
              <a:sym typeface="Calibri"/>
            </a:endParaRPr>
          </a:p>
        </p:txBody>
      </p:sp>
      <p:sp>
        <p:nvSpPr>
          <p:cNvPr id="42" name="Google Shape;42;p4"/>
          <p:cNvSpPr/>
          <p:nvPr/>
        </p:nvSpPr>
        <p:spPr>
          <a:xfrm>
            <a:off x="1809750" y="4646295"/>
            <a:ext cx="3092696"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Research Objectives</a:t>
            </a:r>
            <a:endParaRPr sz="2250">
              <a:solidFill>
                <a:schemeClr val="dk1"/>
              </a:solidFill>
              <a:latin typeface="Calibri"/>
              <a:ea typeface="Calibri"/>
              <a:cs typeface="Calibri"/>
              <a:sym typeface="Calibri"/>
            </a:endParaRPr>
          </a:p>
        </p:txBody>
      </p:sp>
      <p:sp>
        <p:nvSpPr>
          <p:cNvPr id="43" name="Google Shape;43;p4"/>
          <p:cNvSpPr/>
          <p:nvPr/>
        </p:nvSpPr>
        <p:spPr>
          <a:xfrm>
            <a:off x="9525000" y="517207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9525000" y="461581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04</a:t>
            </a:r>
            <a:endParaRPr sz="2550">
              <a:solidFill>
                <a:schemeClr val="dk1"/>
              </a:solidFill>
              <a:latin typeface="Calibri"/>
              <a:ea typeface="Calibri"/>
              <a:cs typeface="Calibri"/>
              <a:sym typeface="Calibri"/>
            </a:endParaRPr>
          </a:p>
        </p:txBody>
      </p:sp>
      <p:sp>
        <p:nvSpPr>
          <p:cNvPr id="45" name="Google Shape;45;p4"/>
          <p:cNvSpPr/>
          <p:nvPr/>
        </p:nvSpPr>
        <p:spPr>
          <a:xfrm>
            <a:off x="10287000" y="4646295"/>
            <a:ext cx="2620423"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Literature Review</a:t>
            </a:r>
            <a:endParaRPr sz="2250">
              <a:solidFill>
                <a:schemeClr val="dk1"/>
              </a:solidFill>
              <a:latin typeface="Calibri"/>
              <a:ea typeface="Calibri"/>
              <a:cs typeface="Calibri"/>
              <a:sym typeface="Calibri"/>
            </a:endParaRPr>
          </a:p>
        </p:txBody>
      </p:sp>
      <p:sp>
        <p:nvSpPr>
          <p:cNvPr id="46" name="Google Shape;46;p4"/>
          <p:cNvSpPr/>
          <p:nvPr/>
        </p:nvSpPr>
        <p:spPr>
          <a:xfrm>
            <a:off x="1047750" y="596455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1047750" y="540829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05</a:t>
            </a:r>
            <a:endParaRPr sz="2550">
              <a:solidFill>
                <a:schemeClr val="dk1"/>
              </a:solidFill>
              <a:latin typeface="Calibri"/>
              <a:ea typeface="Calibri"/>
              <a:cs typeface="Calibri"/>
              <a:sym typeface="Calibri"/>
            </a:endParaRPr>
          </a:p>
        </p:txBody>
      </p:sp>
      <p:sp>
        <p:nvSpPr>
          <p:cNvPr id="48" name="Google Shape;48;p4"/>
          <p:cNvSpPr/>
          <p:nvPr/>
        </p:nvSpPr>
        <p:spPr>
          <a:xfrm>
            <a:off x="1809750" y="5438775"/>
            <a:ext cx="1955494"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Methodology</a:t>
            </a:r>
            <a:endParaRPr sz="2250">
              <a:solidFill>
                <a:schemeClr val="dk1"/>
              </a:solidFill>
              <a:latin typeface="Calibri"/>
              <a:ea typeface="Calibri"/>
              <a:cs typeface="Calibri"/>
              <a:sym typeface="Calibri"/>
            </a:endParaRPr>
          </a:p>
        </p:txBody>
      </p:sp>
      <p:sp>
        <p:nvSpPr>
          <p:cNvPr id="49" name="Google Shape;49;p4"/>
          <p:cNvSpPr/>
          <p:nvPr/>
        </p:nvSpPr>
        <p:spPr>
          <a:xfrm>
            <a:off x="9525000" y="596455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9525000" y="540829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06</a:t>
            </a:r>
            <a:endParaRPr sz="2550">
              <a:solidFill>
                <a:schemeClr val="dk1"/>
              </a:solidFill>
              <a:latin typeface="Calibri"/>
              <a:ea typeface="Calibri"/>
              <a:cs typeface="Calibri"/>
              <a:sym typeface="Calibri"/>
            </a:endParaRPr>
          </a:p>
        </p:txBody>
      </p:sp>
      <p:sp>
        <p:nvSpPr>
          <p:cNvPr id="51" name="Google Shape;51;p4"/>
          <p:cNvSpPr/>
          <p:nvPr/>
        </p:nvSpPr>
        <p:spPr>
          <a:xfrm>
            <a:off x="10287000" y="5438775"/>
            <a:ext cx="2253579"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System Design</a:t>
            </a:r>
            <a:endParaRPr sz="2250">
              <a:solidFill>
                <a:schemeClr val="dk1"/>
              </a:solidFill>
              <a:latin typeface="Calibri"/>
              <a:ea typeface="Calibri"/>
              <a:cs typeface="Calibri"/>
              <a:sym typeface="Calibri"/>
            </a:endParaRPr>
          </a:p>
        </p:txBody>
      </p:sp>
      <p:sp>
        <p:nvSpPr>
          <p:cNvPr id="52" name="Google Shape;52;p4"/>
          <p:cNvSpPr/>
          <p:nvPr/>
        </p:nvSpPr>
        <p:spPr>
          <a:xfrm>
            <a:off x="1047750" y="675703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1047750" y="620077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07</a:t>
            </a:r>
            <a:endParaRPr sz="2550">
              <a:solidFill>
                <a:schemeClr val="dk1"/>
              </a:solidFill>
              <a:latin typeface="Calibri"/>
              <a:ea typeface="Calibri"/>
              <a:cs typeface="Calibri"/>
              <a:sym typeface="Calibri"/>
            </a:endParaRPr>
          </a:p>
        </p:txBody>
      </p:sp>
      <p:sp>
        <p:nvSpPr>
          <p:cNvPr id="54" name="Google Shape;54;p4"/>
          <p:cNvSpPr/>
          <p:nvPr/>
        </p:nvSpPr>
        <p:spPr>
          <a:xfrm>
            <a:off x="1809750" y="6231255"/>
            <a:ext cx="2322862"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Implementation</a:t>
            </a:r>
            <a:endParaRPr sz="2250">
              <a:solidFill>
                <a:schemeClr val="dk1"/>
              </a:solidFill>
              <a:latin typeface="Calibri"/>
              <a:ea typeface="Calibri"/>
              <a:cs typeface="Calibri"/>
              <a:sym typeface="Calibri"/>
            </a:endParaRPr>
          </a:p>
        </p:txBody>
      </p:sp>
      <p:sp>
        <p:nvSpPr>
          <p:cNvPr id="55" name="Google Shape;55;p4"/>
          <p:cNvSpPr/>
          <p:nvPr/>
        </p:nvSpPr>
        <p:spPr>
          <a:xfrm>
            <a:off x="9525000" y="675703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4"/>
          <p:cNvSpPr/>
          <p:nvPr/>
        </p:nvSpPr>
        <p:spPr>
          <a:xfrm>
            <a:off x="9525000" y="620077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08</a:t>
            </a:r>
            <a:endParaRPr sz="2550">
              <a:solidFill>
                <a:schemeClr val="dk1"/>
              </a:solidFill>
              <a:latin typeface="Calibri"/>
              <a:ea typeface="Calibri"/>
              <a:cs typeface="Calibri"/>
              <a:sym typeface="Calibri"/>
            </a:endParaRPr>
          </a:p>
        </p:txBody>
      </p:sp>
      <p:sp>
        <p:nvSpPr>
          <p:cNvPr id="57" name="Google Shape;57;p4"/>
          <p:cNvSpPr/>
          <p:nvPr/>
        </p:nvSpPr>
        <p:spPr>
          <a:xfrm>
            <a:off x="10287000" y="6231255"/>
            <a:ext cx="2818448"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Results &amp; Analysis</a:t>
            </a:r>
            <a:endParaRPr sz="2250">
              <a:solidFill>
                <a:schemeClr val="dk1"/>
              </a:solidFill>
              <a:latin typeface="Calibri"/>
              <a:ea typeface="Calibri"/>
              <a:cs typeface="Calibri"/>
              <a:sym typeface="Calibri"/>
            </a:endParaRPr>
          </a:p>
        </p:txBody>
      </p:sp>
      <p:sp>
        <p:nvSpPr>
          <p:cNvPr id="58" name="Google Shape;58;p4"/>
          <p:cNvSpPr/>
          <p:nvPr/>
        </p:nvSpPr>
        <p:spPr>
          <a:xfrm>
            <a:off x="1047750" y="754951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1047750" y="699325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09</a:t>
            </a:r>
            <a:endParaRPr sz="2550">
              <a:solidFill>
                <a:schemeClr val="dk1"/>
              </a:solidFill>
              <a:latin typeface="Calibri"/>
              <a:ea typeface="Calibri"/>
              <a:cs typeface="Calibri"/>
              <a:sym typeface="Calibri"/>
            </a:endParaRPr>
          </a:p>
        </p:txBody>
      </p:sp>
      <p:sp>
        <p:nvSpPr>
          <p:cNvPr id="60" name="Google Shape;60;p4"/>
          <p:cNvSpPr/>
          <p:nvPr/>
        </p:nvSpPr>
        <p:spPr>
          <a:xfrm>
            <a:off x="1809750" y="7023735"/>
            <a:ext cx="391243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Comparison &amp; Discussion</a:t>
            </a:r>
            <a:endParaRPr sz="2250">
              <a:solidFill>
                <a:schemeClr val="dk1"/>
              </a:solidFill>
              <a:latin typeface="Calibri"/>
              <a:ea typeface="Calibri"/>
              <a:cs typeface="Calibri"/>
              <a:sym typeface="Calibri"/>
            </a:endParaRPr>
          </a:p>
        </p:txBody>
      </p:sp>
      <p:sp>
        <p:nvSpPr>
          <p:cNvPr id="61" name="Google Shape;61;p4"/>
          <p:cNvSpPr/>
          <p:nvPr/>
        </p:nvSpPr>
        <p:spPr>
          <a:xfrm>
            <a:off x="9525000" y="7549515"/>
            <a:ext cx="771525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9525000" y="6993255"/>
            <a:ext cx="609600" cy="4038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550"/>
              <a:buFont typeface="Arial"/>
              <a:buNone/>
            </a:pPr>
            <a:r>
              <a:rPr lang="en-US" sz="2550" b="1">
                <a:solidFill>
                  <a:srgbClr val="1200FF"/>
                </a:solidFill>
                <a:latin typeface="Arial"/>
                <a:ea typeface="Arial"/>
                <a:cs typeface="Arial"/>
                <a:sym typeface="Arial"/>
              </a:rPr>
              <a:t>10</a:t>
            </a:r>
            <a:endParaRPr sz="2550">
              <a:solidFill>
                <a:schemeClr val="dk1"/>
              </a:solidFill>
              <a:latin typeface="Calibri"/>
              <a:ea typeface="Calibri"/>
              <a:cs typeface="Calibri"/>
              <a:sym typeface="Calibri"/>
            </a:endParaRPr>
          </a:p>
        </p:txBody>
      </p:sp>
      <p:sp>
        <p:nvSpPr>
          <p:cNvPr id="63" name="Google Shape;63;p4"/>
          <p:cNvSpPr/>
          <p:nvPr/>
        </p:nvSpPr>
        <p:spPr>
          <a:xfrm>
            <a:off x="10287000" y="7023735"/>
            <a:ext cx="3958269"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latin typeface="Arial"/>
                <a:ea typeface="Arial"/>
                <a:cs typeface="Arial"/>
                <a:sym typeface="Arial"/>
              </a:rPr>
              <a:t>Conclusion &amp; Future Work</a:t>
            </a:r>
            <a:endParaRPr sz="2250">
              <a:solidFill>
                <a:schemeClr val="dk1"/>
              </a:solidFill>
              <a:latin typeface="Calibri"/>
              <a:ea typeface="Calibri"/>
              <a:cs typeface="Calibri"/>
              <a:sym typeface="Calibri"/>
            </a:endParaRPr>
          </a:p>
        </p:txBody>
      </p:sp>
      <p:sp>
        <p:nvSpPr>
          <p:cNvPr id="64" name="Google Shape;64;p4"/>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5" name="Google Shape;65;p4"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66" name="Google Shape;66;p4"/>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67" name="Google Shape;67;p4"/>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02 / 15</a:t>
            </a:r>
            <a:endParaRPr sz="16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5"/>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01 — INTRODUCTION</a:t>
            </a:r>
            <a:endParaRPr sz="1875">
              <a:solidFill>
                <a:schemeClr val="dk1"/>
              </a:solidFill>
              <a:latin typeface="Calibri"/>
              <a:ea typeface="Calibri"/>
              <a:cs typeface="Calibri"/>
              <a:sym typeface="Calibri"/>
            </a:endParaRPr>
          </a:p>
        </p:txBody>
      </p:sp>
      <p:sp>
        <p:nvSpPr>
          <p:cNvPr id="74" name="Google Shape;74;p5"/>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Introduction &amp; Background</a:t>
            </a:r>
            <a:endParaRPr sz="4500">
              <a:solidFill>
                <a:schemeClr val="dk1"/>
              </a:solidFill>
              <a:latin typeface="Calibri"/>
              <a:ea typeface="Calibri"/>
              <a:cs typeface="Calibri"/>
              <a:sym typeface="Calibri"/>
            </a:endParaRPr>
          </a:p>
        </p:txBody>
      </p:sp>
      <p:sp>
        <p:nvSpPr>
          <p:cNvPr id="75" name="Google Shape;75;p5"/>
          <p:cNvSpPr/>
          <p:nvPr/>
        </p:nvSpPr>
        <p:spPr>
          <a:xfrm>
            <a:off x="1047750" y="2990578"/>
            <a:ext cx="95400" cy="857400"/>
          </a:xfrm>
          <a:prstGeom prst="roundRect">
            <a:avLst>
              <a:gd name="adj" fmla="val 50000"/>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1314450" y="2990578"/>
            <a:ext cx="8520600" cy="895500"/>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b="1">
                <a:solidFill>
                  <a:srgbClr val="10101B"/>
                </a:solidFill>
              </a:rPr>
              <a:t>Context:</a:t>
            </a:r>
            <a:r>
              <a:rPr lang="en-US" sz="2250">
                <a:solidFill>
                  <a:srgbClr val="10101B"/>
                </a:solidFill>
              </a:rPr>
              <a:t> The fashion e-commerce industry relies heavily on static product images and generalized size charts, failing to replicate the physical fitting room experience.</a:t>
            </a:r>
            <a:endParaRPr sz="2250">
              <a:solidFill>
                <a:schemeClr val="dk1"/>
              </a:solidFill>
              <a:latin typeface="Calibri"/>
              <a:ea typeface="Calibri"/>
              <a:cs typeface="Calibri"/>
              <a:sym typeface="Calibri"/>
            </a:endParaRPr>
          </a:p>
        </p:txBody>
      </p:sp>
      <p:sp>
        <p:nvSpPr>
          <p:cNvPr id="77" name="Google Shape;77;p5"/>
          <p:cNvSpPr/>
          <p:nvPr/>
        </p:nvSpPr>
        <p:spPr>
          <a:xfrm>
            <a:off x="1047750" y="4618673"/>
            <a:ext cx="95400" cy="428700"/>
          </a:xfrm>
          <a:prstGeom prst="roundRect">
            <a:avLst>
              <a:gd name="adj" fmla="val 50000"/>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314450" y="4618673"/>
            <a:ext cx="6114000" cy="466800"/>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b="1">
                <a:solidFill>
                  <a:srgbClr val="10101B"/>
                </a:solidFill>
              </a:rPr>
              <a:t>Motivation:</a:t>
            </a:r>
            <a:r>
              <a:rPr lang="en-US" sz="2250">
                <a:solidFill>
                  <a:srgbClr val="10101B"/>
                </a:solidFill>
              </a:rPr>
              <a:t> This mismatch leads to low customer confidence, high cart-abandonment, and increased product return rates. AI-driven Virtual Try-On (VTON) offers a computational solution.</a:t>
            </a:r>
            <a:endParaRPr sz="2250">
              <a:solidFill>
                <a:schemeClr val="dk1"/>
              </a:solidFill>
              <a:latin typeface="Calibri"/>
              <a:ea typeface="Calibri"/>
              <a:cs typeface="Calibri"/>
              <a:sym typeface="Calibri"/>
            </a:endParaRPr>
          </a:p>
        </p:txBody>
      </p:sp>
      <p:sp>
        <p:nvSpPr>
          <p:cNvPr id="79" name="Google Shape;79;p5"/>
          <p:cNvSpPr/>
          <p:nvPr/>
        </p:nvSpPr>
        <p:spPr>
          <a:xfrm>
            <a:off x="1047750" y="6991758"/>
            <a:ext cx="95400" cy="428700"/>
          </a:xfrm>
          <a:prstGeom prst="roundRect">
            <a:avLst>
              <a:gd name="adj" fmla="val 50000"/>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314450" y="6991758"/>
            <a:ext cx="7827300" cy="466800"/>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Scope: This project focuses on 2D image-based VTON system integration and deployment feasibility. Rather than training a novel neural network from scratch, it emphasizes full-stack system architecture, asynchronous pipeline optimization, and real-world web deployment.</a:t>
            </a:r>
            <a:endParaRPr sz="2250">
              <a:solidFill>
                <a:schemeClr val="dk1"/>
              </a:solidFill>
              <a:latin typeface="Calibri"/>
              <a:ea typeface="Calibri"/>
              <a:cs typeface="Calibri"/>
              <a:sym typeface="Calibri"/>
            </a:endParaRPr>
          </a:p>
        </p:txBody>
      </p:sp>
      <p:sp>
        <p:nvSpPr>
          <p:cNvPr id="81" name="Google Shape;81;p5"/>
          <p:cNvSpPr/>
          <p:nvPr/>
        </p:nvSpPr>
        <p:spPr>
          <a:xfrm>
            <a:off x="11554296" y="5568315"/>
            <a:ext cx="4385203" cy="28194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1650"/>
              <a:buFont typeface="Courier New"/>
              <a:buNone/>
            </a:pPr>
            <a:endParaRPr sz="1650">
              <a:solidFill>
                <a:schemeClr val="dk1"/>
              </a:solidFill>
              <a:latin typeface="Calibri"/>
              <a:ea typeface="Calibri"/>
              <a:cs typeface="Calibri"/>
              <a:sym typeface="Calibri"/>
            </a:endParaRPr>
          </a:p>
        </p:txBody>
      </p:sp>
      <p:sp>
        <p:nvSpPr>
          <p:cNvPr id="82" name="Google Shape;82;p5"/>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 name="Google Shape;83;p5"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84" name="Google Shape;84;p5"/>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85" name="Google Shape;85;p5"/>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03 / 15</a:t>
            </a:r>
            <a:endParaRPr sz="1650">
              <a:solidFill>
                <a:schemeClr val="dk1"/>
              </a:solidFill>
              <a:latin typeface="Calibri"/>
              <a:ea typeface="Calibri"/>
              <a:cs typeface="Calibri"/>
              <a:sym typeface="Calibri"/>
            </a:endParaRPr>
          </a:p>
        </p:txBody>
      </p:sp>
      <p:pic>
        <p:nvPicPr>
          <p:cNvPr id="86" name="Google Shape;86;p5"/>
          <p:cNvPicPr preferRelativeResize="0"/>
          <p:nvPr/>
        </p:nvPicPr>
        <p:blipFill>
          <a:blip r:embed="rId4">
            <a:alphaModFix/>
          </a:blip>
          <a:stretch>
            <a:fillRect/>
          </a:stretch>
        </p:blipFill>
        <p:spPr>
          <a:xfrm>
            <a:off x="9835050" y="1169675"/>
            <a:ext cx="6113999" cy="831826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sp>
        <p:nvSpPr>
          <p:cNvPr id="92" name="Google Shape;92;p6"/>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02 — PROBLEM STATEMENT</a:t>
            </a:r>
            <a:endParaRPr sz="1875">
              <a:solidFill>
                <a:schemeClr val="dk1"/>
              </a:solidFill>
              <a:latin typeface="Calibri"/>
              <a:ea typeface="Calibri"/>
              <a:cs typeface="Calibri"/>
              <a:sym typeface="Calibri"/>
            </a:endParaRPr>
          </a:p>
        </p:txBody>
      </p:sp>
      <p:sp>
        <p:nvSpPr>
          <p:cNvPr id="93" name="Google Shape;93;p6"/>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The Problem We Address</a:t>
            </a:r>
            <a:endParaRPr sz="4500">
              <a:solidFill>
                <a:schemeClr val="dk1"/>
              </a:solidFill>
              <a:latin typeface="Calibri"/>
              <a:ea typeface="Calibri"/>
              <a:cs typeface="Calibri"/>
              <a:sym typeface="Calibri"/>
            </a:endParaRPr>
          </a:p>
        </p:txBody>
      </p:sp>
      <p:sp>
        <p:nvSpPr>
          <p:cNvPr id="94" name="Google Shape;94;p6"/>
          <p:cNvSpPr/>
          <p:nvPr/>
        </p:nvSpPr>
        <p:spPr>
          <a:xfrm>
            <a:off x="1047750" y="3088743"/>
            <a:ext cx="16192500" cy="2082000"/>
          </a:xfrm>
          <a:prstGeom prst="rect">
            <a:avLst/>
          </a:prstGeom>
          <a:solidFill>
            <a:srgbClr val="F4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1047750" y="3088742"/>
            <a:ext cx="159900" cy="2082000"/>
          </a:xfrm>
          <a:prstGeom prst="rect">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1619250" y="3507833"/>
            <a:ext cx="16668600" cy="1662900"/>
          </a:xfrm>
          <a:prstGeom prst="rect">
            <a:avLst/>
          </a:prstGeom>
          <a:noFill/>
          <a:ln>
            <a:noFill/>
          </a:ln>
        </p:spPr>
        <p:txBody>
          <a:bodyPr spcFirstLastPara="1" wrap="square" lIns="25400" tIns="25400" rIns="25400" bIns="25400" anchor="t" anchorCtr="0">
            <a:noAutofit/>
          </a:bodyPr>
          <a:lstStyle/>
          <a:p>
            <a:pPr marL="0" marR="0" lvl="0" indent="0" algn="l" rtl="0">
              <a:lnSpc>
                <a:spcPct val="116189"/>
              </a:lnSpc>
              <a:spcBef>
                <a:spcPts val="0"/>
              </a:spcBef>
              <a:spcAft>
                <a:spcPts val="0"/>
              </a:spcAft>
              <a:buClr>
                <a:srgbClr val="10101B"/>
              </a:buClr>
              <a:buSzPts val="3150"/>
              <a:buFont typeface="Arial"/>
              <a:buNone/>
            </a:pPr>
            <a:r>
              <a:rPr lang="en-US" sz="3150" b="1">
                <a:solidFill>
                  <a:srgbClr val="10101B"/>
                </a:solidFill>
              </a:rPr>
              <a:t>A significant "deployment gap" exists between computationally heavy academic </a:t>
            </a:r>
            <a:endParaRPr sz="3150" b="1">
              <a:solidFill>
                <a:srgbClr val="10101B"/>
              </a:solidFill>
            </a:endParaRPr>
          </a:p>
          <a:p>
            <a:pPr marL="0" marR="0" lvl="0" indent="0" algn="l" rtl="0">
              <a:lnSpc>
                <a:spcPct val="116189"/>
              </a:lnSpc>
              <a:spcBef>
                <a:spcPts val="0"/>
              </a:spcBef>
              <a:spcAft>
                <a:spcPts val="0"/>
              </a:spcAft>
              <a:buClr>
                <a:srgbClr val="10101B"/>
              </a:buClr>
              <a:buSzPts val="3150"/>
              <a:buFont typeface="Arial"/>
              <a:buNone/>
            </a:pPr>
            <a:r>
              <a:rPr lang="en-US" sz="3150" b="1">
                <a:solidFill>
                  <a:srgbClr val="10101B"/>
                </a:solidFill>
              </a:rPr>
              <a:t>VTON models and practical, real-time web-based e-commerce applications.</a:t>
            </a:r>
            <a:endParaRPr sz="3150">
              <a:solidFill>
                <a:schemeClr val="dk1"/>
              </a:solidFill>
              <a:latin typeface="Calibri"/>
              <a:ea typeface="Calibri"/>
              <a:cs typeface="Calibri"/>
              <a:sym typeface="Calibri"/>
            </a:endParaRPr>
          </a:p>
        </p:txBody>
      </p:sp>
      <p:sp>
        <p:nvSpPr>
          <p:cNvPr id="97" name="Google Shape;97;p6"/>
          <p:cNvSpPr/>
          <p:nvPr/>
        </p:nvSpPr>
        <p:spPr>
          <a:xfrm>
            <a:off x="1047750" y="6248876"/>
            <a:ext cx="5685747"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650"/>
              <a:buFont typeface="Arial"/>
              <a:buNone/>
            </a:pPr>
            <a:r>
              <a:rPr lang="en-US" sz="1650" b="1">
                <a:solidFill>
                  <a:srgbClr val="1200FF"/>
                </a:solidFill>
                <a:latin typeface="Arial"/>
                <a:ea typeface="Arial"/>
                <a:cs typeface="Arial"/>
                <a:sym typeface="Arial"/>
              </a:rPr>
              <a:t>WHO IS AFFECTED</a:t>
            </a:r>
            <a:endParaRPr sz="1650">
              <a:solidFill>
                <a:schemeClr val="dk1"/>
              </a:solidFill>
              <a:latin typeface="Calibri"/>
              <a:ea typeface="Calibri"/>
              <a:cs typeface="Calibri"/>
              <a:sym typeface="Calibri"/>
            </a:endParaRPr>
          </a:p>
        </p:txBody>
      </p:sp>
      <p:sp>
        <p:nvSpPr>
          <p:cNvPr id="98" name="Google Shape;98;p6"/>
          <p:cNvSpPr/>
          <p:nvPr/>
        </p:nvSpPr>
        <p:spPr>
          <a:xfrm>
            <a:off x="1047750" y="6587974"/>
            <a:ext cx="5313600" cy="896100"/>
          </a:xfrm>
          <a:prstGeom prst="rect">
            <a:avLst/>
          </a:prstGeom>
          <a:noFill/>
          <a:ln>
            <a:noFill/>
          </a:ln>
        </p:spPr>
        <p:txBody>
          <a:bodyPr spcFirstLastPara="1" wrap="square" lIns="25400" tIns="25400" rIns="25400" bIns="25400" anchor="t" anchorCtr="0">
            <a:noAutofit/>
          </a:bodyPr>
          <a:lstStyle/>
          <a:p>
            <a:pPr marL="0" marR="0" lvl="0" indent="0" algn="l" rtl="0">
              <a:lnSpc>
                <a:spcPct val="121154"/>
              </a:lnSpc>
              <a:spcBef>
                <a:spcPts val="0"/>
              </a:spcBef>
              <a:spcAft>
                <a:spcPts val="0"/>
              </a:spcAft>
              <a:buClr>
                <a:srgbClr val="10101B"/>
              </a:buClr>
              <a:buSzPts val="2025"/>
              <a:buFont typeface="Arial"/>
              <a:buNone/>
            </a:pPr>
            <a:r>
              <a:rPr lang="en-US" sz="2025">
                <a:solidFill>
                  <a:srgbClr val="10101B"/>
                </a:solidFill>
              </a:rPr>
              <a:t>Small to mid-scale fashion retailers and online consumers experiencing high return rates.</a:t>
            </a:r>
            <a:endParaRPr sz="2025">
              <a:solidFill>
                <a:schemeClr val="dk1"/>
              </a:solidFill>
              <a:latin typeface="Calibri"/>
              <a:ea typeface="Calibri"/>
              <a:cs typeface="Calibri"/>
              <a:sym typeface="Calibri"/>
            </a:endParaRPr>
          </a:p>
        </p:txBody>
      </p:sp>
      <p:sp>
        <p:nvSpPr>
          <p:cNvPr id="99" name="Google Shape;99;p6"/>
          <p:cNvSpPr/>
          <p:nvPr/>
        </p:nvSpPr>
        <p:spPr>
          <a:xfrm>
            <a:off x="6559511" y="6248876"/>
            <a:ext cx="5685747"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650"/>
              <a:buFont typeface="Arial"/>
              <a:buNone/>
            </a:pPr>
            <a:r>
              <a:rPr lang="en-US" sz="1650" b="1">
                <a:solidFill>
                  <a:srgbClr val="1200FF"/>
                </a:solidFill>
                <a:latin typeface="Arial"/>
                <a:ea typeface="Arial"/>
                <a:cs typeface="Arial"/>
                <a:sym typeface="Arial"/>
              </a:rPr>
              <a:t>CURRENT LIMITATION</a:t>
            </a:r>
            <a:endParaRPr sz="1650">
              <a:solidFill>
                <a:schemeClr val="dk1"/>
              </a:solidFill>
              <a:latin typeface="Calibri"/>
              <a:ea typeface="Calibri"/>
              <a:cs typeface="Calibri"/>
              <a:sym typeface="Calibri"/>
            </a:endParaRPr>
          </a:p>
        </p:txBody>
      </p:sp>
      <p:sp>
        <p:nvSpPr>
          <p:cNvPr id="100" name="Google Shape;100;p6"/>
          <p:cNvSpPr/>
          <p:nvPr/>
        </p:nvSpPr>
        <p:spPr>
          <a:xfrm>
            <a:off x="6559500" y="6587975"/>
            <a:ext cx="5431800" cy="398100"/>
          </a:xfrm>
          <a:prstGeom prst="rect">
            <a:avLst/>
          </a:prstGeom>
          <a:noFill/>
          <a:ln>
            <a:noFill/>
          </a:ln>
        </p:spPr>
        <p:txBody>
          <a:bodyPr spcFirstLastPara="1" wrap="square" lIns="25400" tIns="25400" rIns="25400" bIns="25400" anchor="t" anchorCtr="0">
            <a:noAutofit/>
          </a:bodyPr>
          <a:lstStyle/>
          <a:p>
            <a:pPr marL="0" marR="0" lvl="0" indent="0" algn="l" rtl="0">
              <a:lnSpc>
                <a:spcPct val="121154"/>
              </a:lnSpc>
              <a:spcBef>
                <a:spcPts val="0"/>
              </a:spcBef>
              <a:spcAft>
                <a:spcPts val="0"/>
              </a:spcAft>
              <a:buClr>
                <a:srgbClr val="10101B"/>
              </a:buClr>
              <a:buSzPts val="2025"/>
              <a:buFont typeface="Arial"/>
              <a:buNone/>
            </a:pPr>
            <a:r>
              <a:rPr lang="en-US" sz="2025">
                <a:solidFill>
                  <a:srgbClr val="10101B"/>
                </a:solidFill>
              </a:rPr>
              <a:t>Existing VTON research predominantly optimizes for visual fidelity (e.g., FID, SSIM) in isolated, offline environments, neglecting production requirements such as robust API design, error handling, and responsive client-server communication.</a:t>
            </a:r>
            <a:endParaRPr sz="2025">
              <a:solidFill>
                <a:schemeClr val="dk1"/>
              </a:solidFill>
              <a:latin typeface="Calibri"/>
              <a:ea typeface="Calibri"/>
              <a:cs typeface="Calibri"/>
              <a:sym typeface="Calibri"/>
            </a:endParaRPr>
          </a:p>
        </p:txBody>
      </p:sp>
      <p:sp>
        <p:nvSpPr>
          <p:cNvPr id="101" name="Google Shape;101;p6"/>
          <p:cNvSpPr/>
          <p:nvPr/>
        </p:nvSpPr>
        <p:spPr>
          <a:xfrm>
            <a:off x="12071271" y="6248876"/>
            <a:ext cx="5685747"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650"/>
              <a:buFont typeface="Arial"/>
              <a:buNone/>
            </a:pPr>
            <a:r>
              <a:rPr lang="en-US" sz="1650" b="1">
                <a:solidFill>
                  <a:srgbClr val="1200FF"/>
                </a:solidFill>
                <a:latin typeface="Arial"/>
                <a:ea typeface="Arial"/>
                <a:cs typeface="Arial"/>
                <a:sym typeface="Arial"/>
              </a:rPr>
              <a:t>WHY NOW</a:t>
            </a:r>
            <a:endParaRPr sz="1650">
              <a:solidFill>
                <a:schemeClr val="dk1"/>
              </a:solidFill>
              <a:latin typeface="Calibri"/>
              <a:ea typeface="Calibri"/>
              <a:cs typeface="Calibri"/>
              <a:sym typeface="Calibri"/>
            </a:endParaRPr>
          </a:p>
        </p:txBody>
      </p:sp>
      <p:sp>
        <p:nvSpPr>
          <p:cNvPr id="102" name="Google Shape;102;p6"/>
          <p:cNvSpPr/>
          <p:nvPr/>
        </p:nvSpPr>
        <p:spPr>
          <a:xfrm>
            <a:off x="12071271" y="6587966"/>
            <a:ext cx="5685747" cy="398145"/>
          </a:xfrm>
          <a:prstGeom prst="rect">
            <a:avLst/>
          </a:prstGeom>
          <a:noFill/>
          <a:ln>
            <a:noFill/>
          </a:ln>
        </p:spPr>
        <p:txBody>
          <a:bodyPr spcFirstLastPara="1" wrap="square" lIns="25400" tIns="25400" rIns="25400" bIns="25400" anchor="t" anchorCtr="0">
            <a:noAutofit/>
          </a:bodyPr>
          <a:lstStyle/>
          <a:p>
            <a:pPr marL="0" marR="0" lvl="0" indent="0" algn="l" rtl="0">
              <a:lnSpc>
                <a:spcPct val="121154"/>
              </a:lnSpc>
              <a:spcBef>
                <a:spcPts val="0"/>
              </a:spcBef>
              <a:spcAft>
                <a:spcPts val="0"/>
              </a:spcAft>
              <a:buClr>
                <a:srgbClr val="10101B"/>
              </a:buClr>
              <a:buSzPts val="2025"/>
              <a:buFont typeface="Arial"/>
              <a:buNone/>
            </a:pPr>
            <a:r>
              <a:rPr lang="en-US" sz="2025">
                <a:solidFill>
                  <a:srgbClr val="10101B"/>
                </a:solidFill>
              </a:rPr>
              <a:t>There is a significant integration gap: research models are rarely packaged with the end-to-end system architecture (preprocessing, task queuing, post-processing, and UI feedback) required for a seamless, real-world e-commerce user experience.</a:t>
            </a:r>
            <a:endParaRPr sz="2025">
              <a:solidFill>
                <a:schemeClr val="dk1"/>
              </a:solidFill>
              <a:latin typeface="Calibri"/>
              <a:ea typeface="Calibri"/>
              <a:cs typeface="Calibri"/>
              <a:sym typeface="Calibri"/>
            </a:endParaRPr>
          </a:p>
        </p:txBody>
      </p:sp>
      <p:sp>
        <p:nvSpPr>
          <p:cNvPr id="103" name="Google Shape;103;p6"/>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4" name="Google Shape;104;p6"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105" name="Google Shape;105;p6"/>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106" name="Google Shape;106;p6"/>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04 / 15</a:t>
            </a:r>
            <a:endParaRPr sz="16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sp>
        <p:nvSpPr>
          <p:cNvPr id="112" name="Google Shape;112;p7"/>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03 — OBJECTIVES</a:t>
            </a:r>
            <a:endParaRPr sz="1875">
              <a:solidFill>
                <a:schemeClr val="dk1"/>
              </a:solidFill>
              <a:latin typeface="Calibri"/>
              <a:ea typeface="Calibri"/>
              <a:cs typeface="Calibri"/>
              <a:sym typeface="Calibri"/>
            </a:endParaRPr>
          </a:p>
        </p:txBody>
      </p:sp>
      <p:sp>
        <p:nvSpPr>
          <p:cNvPr id="113" name="Google Shape;113;p7"/>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Research Objectives</a:t>
            </a:r>
            <a:endParaRPr sz="4500">
              <a:solidFill>
                <a:schemeClr val="dk1"/>
              </a:solidFill>
              <a:latin typeface="Calibri"/>
              <a:ea typeface="Calibri"/>
              <a:cs typeface="Calibri"/>
              <a:sym typeface="Calibri"/>
            </a:endParaRPr>
          </a:p>
        </p:txBody>
      </p:sp>
      <p:sp>
        <p:nvSpPr>
          <p:cNvPr id="114" name="Google Shape;114;p7"/>
          <p:cNvSpPr/>
          <p:nvPr/>
        </p:nvSpPr>
        <p:spPr>
          <a:xfrm>
            <a:off x="1047750" y="3838575"/>
            <a:ext cx="7943850" cy="1699260"/>
          </a:xfrm>
          <a:prstGeom prst="roundRect">
            <a:avLst>
              <a:gd name="adj" fmla="val 10090"/>
            </a:avLst>
          </a:prstGeom>
          <a:no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1272349" y="4008297"/>
            <a:ext cx="7883271" cy="4800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3000"/>
              <a:buFont typeface="Arial"/>
              <a:buNone/>
            </a:pPr>
            <a:r>
              <a:rPr lang="en-US" sz="3000" b="1">
                <a:solidFill>
                  <a:srgbClr val="1200FF"/>
                </a:solidFill>
                <a:latin typeface="Arial"/>
                <a:ea typeface="Arial"/>
                <a:cs typeface="Arial"/>
                <a:sym typeface="Arial"/>
              </a:rPr>
              <a:t>01</a:t>
            </a:r>
            <a:endParaRPr sz="3000">
              <a:solidFill>
                <a:schemeClr val="dk1"/>
              </a:solidFill>
              <a:latin typeface="Calibri"/>
              <a:ea typeface="Calibri"/>
              <a:cs typeface="Calibri"/>
              <a:sym typeface="Calibri"/>
            </a:endParaRPr>
          </a:p>
        </p:txBody>
      </p:sp>
      <p:sp>
        <p:nvSpPr>
          <p:cNvPr id="116" name="Google Shape;116;p7"/>
          <p:cNvSpPr/>
          <p:nvPr/>
        </p:nvSpPr>
        <p:spPr>
          <a:xfrm>
            <a:off x="1249109" y="4387392"/>
            <a:ext cx="788327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dirty="0">
                <a:solidFill>
                  <a:srgbClr val="10101B"/>
                </a:solidFill>
              </a:rPr>
              <a:t>Analyze existing VTON research to identify computational and architectural limitations for real-time web deployment.</a:t>
            </a:r>
            <a:endParaRPr sz="2250" dirty="0">
              <a:solidFill>
                <a:schemeClr val="dk1"/>
              </a:solidFill>
              <a:latin typeface="Calibri"/>
              <a:ea typeface="Calibri"/>
              <a:cs typeface="Calibri"/>
              <a:sym typeface="Calibri"/>
            </a:endParaRPr>
          </a:p>
        </p:txBody>
      </p:sp>
      <p:sp>
        <p:nvSpPr>
          <p:cNvPr id="117" name="Google Shape;117;p7"/>
          <p:cNvSpPr/>
          <p:nvPr/>
        </p:nvSpPr>
        <p:spPr>
          <a:xfrm>
            <a:off x="9296400" y="3838575"/>
            <a:ext cx="7943850" cy="1699260"/>
          </a:xfrm>
          <a:prstGeom prst="roundRect">
            <a:avLst>
              <a:gd name="adj" fmla="val 10090"/>
            </a:avLst>
          </a:prstGeom>
          <a:no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9685020" y="3993280"/>
            <a:ext cx="7883271" cy="4800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3000"/>
              <a:buFont typeface="Arial"/>
              <a:buNone/>
            </a:pPr>
            <a:r>
              <a:rPr lang="en-US" sz="3000" b="1" dirty="0">
                <a:solidFill>
                  <a:srgbClr val="1200FF"/>
                </a:solidFill>
                <a:latin typeface="Arial"/>
                <a:ea typeface="Arial"/>
                <a:cs typeface="Arial"/>
                <a:sym typeface="Arial"/>
              </a:rPr>
              <a:t>02</a:t>
            </a:r>
            <a:endParaRPr sz="3000" dirty="0">
              <a:solidFill>
                <a:schemeClr val="dk1"/>
              </a:solidFill>
              <a:latin typeface="Calibri"/>
              <a:ea typeface="Calibri"/>
              <a:cs typeface="Calibri"/>
              <a:sym typeface="Calibri"/>
            </a:endParaRPr>
          </a:p>
        </p:txBody>
      </p:sp>
      <p:sp>
        <p:nvSpPr>
          <p:cNvPr id="119" name="Google Shape;119;p7"/>
          <p:cNvSpPr/>
          <p:nvPr/>
        </p:nvSpPr>
        <p:spPr>
          <a:xfrm>
            <a:off x="9685020" y="4523845"/>
            <a:ext cx="788327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dirty="0">
                <a:solidFill>
                  <a:srgbClr val="10101B"/>
                </a:solidFill>
              </a:rPr>
              <a:t>Design an efficient, end-to-end, multi-tier system architecture suitable for low-latency web integration.</a:t>
            </a:r>
            <a:endParaRPr sz="2250" dirty="0">
              <a:solidFill>
                <a:schemeClr val="dk1"/>
              </a:solidFill>
              <a:latin typeface="Calibri"/>
              <a:ea typeface="Calibri"/>
              <a:cs typeface="Calibri"/>
              <a:sym typeface="Calibri"/>
            </a:endParaRPr>
          </a:p>
        </p:txBody>
      </p:sp>
      <p:sp>
        <p:nvSpPr>
          <p:cNvPr id="120" name="Google Shape;120;p7"/>
          <p:cNvSpPr/>
          <p:nvPr/>
        </p:nvSpPr>
        <p:spPr>
          <a:xfrm>
            <a:off x="1047750" y="5842635"/>
            <a:ext cx="7943850" cy="1699260"/>
          </a:xfrm>
          <a:prstGeom prst="roundRect">
            <a:avLst>
              <a:gd name="adj" fmla="val 10090"/>
            </a:avLst>
          </a:prstGeom>
          <a:no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1330045" y="5954810"/>
            <a:ext cx="7883271" cy="4800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3000"/>
              <a:buFont typeface="Arial"/>
              <a:buNone/>
            </a:pPr>
            <a:r>
              <a:rPr lang="en-US" sz="3000" b="1" dirty="0">
                <a:solidFill>
                  <a:srgbClr val="1200FF"/>
                </a:solidFill>
                <a:latin typeface="Arial"/>
                <a:ea typeface="Arial"/>
                <a:cs typeface="Arial"/>
                <a:sym typeface="Arial"/>
              </a:rPr>
              <a:t>03</a:t>
            </a:r>
            <a:endParaRPr sz="3000" dirty="0">
              <a:solidFill>
                <a:schemeClr val="dk1"/>
              </a:solidFill>
              <a:latin typeface="Calibri"/>
              <a:ea typeface="Calibri"/>
              <a:cs typeface="Calibri"/>
              <a:sym typeface="Calibri"/>
            </a:endParaRPr>
          </a:p>
        </p:txBody>
      </p:sp>
      <p:sp>
        <p:nvSpPr>
          <p:cNvPr id="122" name="Google Shape;122;p7"/>
          <p:cNvSpPr/>
          <p:nvPr/>
        </p:nvSpPr>
        <p:spPr>
          <a:xfrm>
            <a:off x="1308780" y="6357785"/>
            <a:ext cx="788327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dirty="0">
                <a:solidFill>
                  <a:srgbClr val="10101B"/>
                </a:solidFill>
              </a:rPr>
              <a:t>Integrate an open-source foundation image generation model (Qwen-Image) within a streamlined VTON pipeline (background removal, pose estimation).</a:t>
            </a:r>
            <a:endParaRPr sz="2250" dirty="0">
              <a:solidFill>
                <a:schemeClr val="dk1"/>
              </a:solidFill>
              <a:latin typeface="Calibri"/>
              <a:ea typeface="Calibri"/>
              <a:cs typeface="Calibri"/>
              <a:sym typeface="Calibri"/>
            </a:endParaRPr>
          </a:p>
        </p:txBody>
      </p:sp>
      <p:sp>
        <p:nvSpPr>
          <p:cNvPr id="123" name="Google Shape;123;p7"/>
          <p:cNvSpPr/>
          <p:nvPr/>
        </p:nvSpPr>
        <p:spPr>
          <a:xfrm>
            <a:off x="9296400" y="5842635"/>
            <a:ext cx="7943850" cy="1699260"/>
          </a:xfrm>
          <a:prstGeom prst="roundRect">
            <a:avLst>
              <a:gd name="adj" fmla="val 10090"/>
            </a:avLst>
          </a:prstGeom>
          <a:no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9685020" y="5912280"/>
            <a:ext cx="7883271" cy="4800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3000"/>
              <a:buFont typeface="Arial"/>
              <a:buNone/>
            </a:pPr>
            <a:r>
              <a:rPr lang="en-US" sz="3000" b="1" dirty="0">
                <a:solidFill>
                  <a:srgbClr val="1200FF"/>
                </a:solidFill>
                <a:latin typeface="Arial"/>
                <a:ea typeface="Arial"/>
                <a:cs typeface="Arial"/>
                <a:sym typeface="Arial"/>
              </a:rPr>
              <a:t>04</a:t>
            </a:r>
            <a:endParaRPr sz="3000" dirty="0">
              <a:solidFill>
                <a:schemeClr val="dk1"/>
              </a:solidFill>
              <a:latin typeface="Calibri"/>
              <a:ea typeface="Calibri"/>
              <a:cs typeface="Calibri"/>
              <a:sym typeface="Calibri"/>
            </a:endParaRPr>
          </a:p>
        </p:txBody>
      </p:sp>
      <p:sp>
        <p:nvSpPr>
          <p:cNvPr id="125" name="Google Shape;125;p7"/>
          <p:cNvSpPr/>
          <p:nvPr/>
        </p:nvSpPr>
        <p:spPr>
          <a:xfrm>
            <a:off x="9685020" y="6315255"/>
            <a:ext cx="788327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dirty="0">
                <a:solidFill>
                  <a:srgbClr val="10101B"/>
                </a:solidFill>
              </a:rPr>
              <a:t>Implement &amp; Evaluate a functional, deployable prototype on a VPS environment, measuring system performance and visual fidelity.</a:t>
            </a:r>
            <a:endParaRPr sz="2250" dirty="0">
              <a:solidFill>
                <a:schemeClr val="dk1"/>
              </a:solidFill>
              <a:latin typeface="Calibri"/>
              <a:ea typeface="Calibri"/>
              <a:cs typeface="Calibri"/>
              <a:sym typeface="Calibri"/>
            </a:endParaRPr>
          </a:p>
        </p:txBody>
      </p:sp>
      <p:sp>
        <p:nvSpPr>
          <p:cNvPr id="126" name="Google Shape;126;p7"/>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7" name="Google Shape;127;p7"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128" name="Google Shape;128;p7"/>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129" name="Google Shape;129;p7"/>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05 / 15</a:t>
            </a:r>
            <a:endParaRPr sz="16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4"/>
        <p:cNvGrpSpPr/>
        <p:nvPr/>
      </p:nvGrpSpPr>
      <p:grpSpPr>
        <a:xfrm>
          <a:off x="0" y="0"/>
          <a:ext cx="0" cy="0"/>
          <a:chOff x="0" y="0"/>
          <a:chExt cx="0" cy="0"/>
        </a:xfrm>
      </p:grpSpPr>
      <p:sp>
        <p:nvSpPr>
          <p:cNvPr id="135" name="Google Shape;135;p8"/>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04 — LITERATURE REVIEW</a:t>
            </a:r>
            <a:endParaRPr sz="1875">
              <a:solidFill>
                <a:schemeClr val="dk1"/>
              </a:solidFill>
              <a:latin typeface="Calibri"/>
              <a:ea typeface="Calibri"/>
              <a:cs typeface="Calibri"/>
              <a:sym typeface="Calibri"/>
            </a:endParaRPr>
          </a:p>
        </p:txBody>
      </p:sp>
      <p:sp>
        <p:nvSpPr>
          <p:cNvPr id="136" name="Google Shape;136;p8"/>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Related Work</a:t>
            </a:r>
            <a:endParaRPr sz="4500">
              <a:solidFill>
                <a:schemeClr val="dk1"/>
              </a:solidFill>
              <a:latin typeface="Calibri"/>
              <a:ea typeface="Calibri"/>
              <a:cs typeface="Calibri"/>
              <a:sym typeface="Calibri"/>
            </a:endParaRPr>
          </a:p>
        </p:txBody>
      </p:sp>
      <p:sp>
        <p:nvSpPr>
          <p:cNvPr id="137" name="Google Shape;137;p8"/>
          <p:cNvSpPr/>
          <p:nvPr/>
        </p:nvSpPr>
        <p:spPr>
          <a:xfrm>
            <a:off x="1047750" y="4248150"/>
            <a:ext cx="16192500" cy="15240"/>
          </a:xfrm>
          <a:prstGeom prst="rect">
            <a:avLst/>
          </a:prstGeom>
          <a:solidFill>
            <a:srgbClr val="101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1047750" y="3802380"/>
            <a:ext cx="4898231"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b="1">
                <a:solidFill>
                  <a:srgbClr val="4A4A5C"/>
                </a:solidFill>
                <a:latin typeface="Arial"/>
                <a:ea typeface="Arial"/>
                <a:cs typeface="Arial"/>
                <a:sym typeface="Arial"/>
              </a:rPr>
              <a:t>AUTHOR / YEAR</a:t>
            </a:r>
            <a:endParaRPr sz="1875">
              <a:solidFill>
                <a:schemeClr val="dk1"/>
              </a:solidFill>
              <a:latin typeface="Calibri"/>
              <a:ea typeface="Calibri"/>
              <a:cs typeface="Calibri"/>
              <a:sym typeface="Calibri"/>
            </a:endParaRPr>
          </a:p>
        </p:txBody>
      </p:sp>
      <p:sp>
        <p:nvSpPr>
          <p:cNvPr id="139" name="Google Shape;139;p8"/>
          <p:cNvSpPr/>
          <p:nvPr/>
        </p:nvSpPr>
        <p:spPr>
          <a:xfrm>
            <a:off x="5500688" y="3802380"/>
            <a:ext cx="712470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b="1">
                <a:solidFill>
                  <a:srgbClr val="4A4A5C"/>
                </a:solidFill>
                <a:latin typeface="Arial"/>
                <a:ea typeface="Arial"/>
                <a:cs typeface="Arial"/>
                <a:sym typeface="Arial"/>
              </a:rPr>
              <a:t>APPROACH</a:t>
            </a:r>
            <a:endParaRPr sz="1875">
              <a:solidFill>
                <a:schemeClr val="dk1"/>
              </a:solidFill>
              <a:latin typeface="Calibri"/>
              <a:ea typeface="Calibri"/>
              <a:cs typeface="Calibri"/>
              <a:sym typeface="Calibri"/>
            </a:endParaRPr>
          </a:p>
        </p:txBody>
      </p:sp>
      <p:sp>
        <p:nvSpPr>
          <p:cNvPr id="140" name="Google Shape;140;p8"/>
          <p:cNvSpPr/>
          <p:nvPr/>
        </p:nvSpPr>
        <p:spPr>
          <a:xfrm>
            <a:off x="11977688" y="3802380"/>
            <a:ext cx="5788819"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b="1">
                <a:solidFill>
                  <a:srgbClr val="4A4A5C"/>
                </a:solidFill>
                <a:latin typeface="Arial"/>
                <a:ea typeface="Arial"/>
                <a:cs typeface="Arial"/>
                <a:sym typeface="Arial"/>
              </a:rPr>
              <a:t>LIMITATION</a:t>
            </a:r>
            <a:endParaRPr sz="1875">
              <a:solidFill>
                <a:schemeClr val="dk1"/>
              </a:solidFill>
              <a:latin typeface="Calibri"/>
              <a:ea typeface="Calibri"/>
              <a:cs typeface="Calibri"/>
              <a:sym typeface="Calibri"/>
            </a:endParaRPr>
          </a:p>
        </p:txBody>
      </p:sp>
      <p:sp>
        <p:nvSpPr>
          <p:cNvPr id="141" name="Google Shape;141;p8"/>
          <p:cNvSpPr/>
          <p:nvPr/>
        </p:nvSpPr>
        <p:spPr>
          <a:xfrm>
            <a:off x="1047750" y="508635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1047750" y="4511040"/>
            <a:ext cx="489823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rPr>
              <a:t>Han et al., 2018 (VITON)</a:t>
            </a:r>
            <a:endParaRPr sz="2250">
              <a:solidFill>
                <a:schemeClr val="dk1"/>
              </a:solidFill>
              <a:latin typeface="Calibri"/>
              <a:ea typeface="Calibri"/>
              <a:cs typeface="Calibri"/>
              <a:sym typeface="Calibri"/>
            </a:endParaRPr>
          </a:p>
        </p:txBody>
      </p:sp>
      <p:sp>
        <p:nvSpPr>
          <p:cNvPr id="143" name="Google Shape;143;p8"/>
          <p:cNvSpPr/>
          <p:nvPr/>
        </p:nvSpPr>
        <p:spPr>
          <a:xfrm>
            <a:off x="5500688" y="4511040"/>
            <a:ext cx="712470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025"/>
              <a:buFont typeface="Arial"/>
              <a:buNone/>
            </a:pPr>
            <a:r>
              <a:rPr lang="en-US" sz="2025">
                <a:solidFill>
                  <a:srgbClr val="10101B"/>
                </a:solidFill>
              </a:rPr>
              <a:t>GAN-based warping</a:t>
            </a:r>
            <a:endParaRPr sz="2025">
              <a:solidFill>
                <a:schemeClr val="dk1"/>
              </a:solidFill>
              <a:latin typeface="Calibri"/>
              <a:ea typeface="Calibri"/>
              <a:cs typeface="Calibri"/>
              <a:sym typeface="Calibri"/>
            </a:endParaRPr>
          </a:p>
        </p:txBody>
      </p:sp>
      <p:sp>
        <p:nvSpPr>
          <p:cNvPr id="144" name="Google Shape;144;p8"/>
          <p:cNvSpPr/>
          <p:nvPr/>
        </p:nvSpPr>
        <p:spPr>
          <a:xfrm>
            <a:off x="11977688" y="4383450"/>
            <a:ext cx="5788819"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2025"/>
              <a:buFont typeface="Arial"/>
              <a:buNone/>
            </a:pPr>
            <a:r>
              <a:rPr lang="en-US" sz="2025" dirty="0">
                <a:solidFill>
                  <a:srgbClr val="4A4A5C"/>
                </a:solidFill>
              </a:rPr>
              <a:t>Struggles with high-res outputs and complex poses; suffers from mode collapse.</a:t>
            </a:r>
            <a:endParaRPr sz="2025" dirty="0">
              <a:solidFill>
                <a:schemeClr val="dk1"/>
              </a:solidFill>
              <a:latin typeface="Calibri"/>
              <a:ea typeface="Calibri"/>
              <a:cs typeface="Calibri"/>
              <a:sym typeface="Calibri"/>
            </a:endParaRPr>
          </a:p>
        </p:txBody>
      </p:sp>
      <p:sp>
        <p:nvSpPr>
          <p:cNvPr id="145" name="Google Shape;145;p8"/>
          <p:cNvSpPr/>
          <p:nvPr/>
        </p:nvSpPr>
        <p:spPr>
          <a:xfrm>
            <a:off x="1047750" y="59169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a:off x="1047750" y="5341620"/>
            <a:ext cx="489823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rPr>
              <a:t>Choi et al., 2021 (VITON-HD)</a:t>
            </a:r>
            <a:endParaRPr sz="2250">
              <a:solidFill>
                <a:schemeClr val="dk1"/>
              </a:solidFill>
              <a:latin typeface="Calibri"/>
              <a:ea typeface="Calibri"/>
              <a:cs typeface="Calibri"/>
              <a:sym typeface="Calibri"/>
            </a:endParaRPr>
          </a:p>
        </p:txBody>
      </p:sp>
      <p:sp>
        <p:nvSpPr>
          <p:cNvPr id="147" name="Google Shape;147;p8"/>
          <p:cNvSpPr/>
          <p:nvPr/>
        </p:nvSpPr>
        <p:spPr>
          <a:xfrm>
            <a:off x="5500688" y="5341620"/>
            <a:ext cx="712470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025"/>
              <a:buFont typeface="Arial"/>
              <a:buNone/>
            </a:pPr>
            <a:r>
              <a:rPr lang="en-US" sz="2025">
                <a:solidFill>
                  <a:srgbClr val="10101B"/>
                </a:solidFill>
              </a:rPr>
              <a:t>High-res GAN</a:t>
            </a:r>
            <a:endParaRPr sz="2025">
              <a:solidFill>
                <a:schemeClr val="dk1"/>
              </a:solidFill>
              <a:latin typeface="Calibri"/>
              <a:ea typeface="Calibri"/>
              <a:cs typeface="Calibri"/>
              <a:sym typeface="Calibri"/>
            </a:endParaRPr>
          </a:p>
        </p:txBody>
      </p:sp>
      <p:sp>
        <p:nvSpPr>
          <p:cNvPr id="148" name="Google Shape;148;p8"/>
          <p:cNvSpPr/>
          <p:nvPr/>
        </p:nvSpPr>
        <p:spPr>
          <a:xfrm>
            <a:off x="11977688" y="5171500"/>
            <a:ext cx="5788819"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2025"/>
              <a:buFont typeface="Arial"/>
              <a:buNone/>
            </a:pPr>
            <a:r>
              <a:rPr lang="en-US" sz="2025" dirty="0">
                <a:solidFill>
                  <a:srgbClr val="4A4A5C"/>
                </a:solidFill>
              </a:rPr>
              <a:t>Improves resolution but still lacks real-time web deployment feasibility.</a:t>
            </a:r>
            <a:endParaRPr sz="2025" dirty="0">
              <a:solidFill>
                <a:schemeClr val="dk1"/>
              </a:solidFill>
              <a:latin typeface="Calibri"/>
              <a:ea typeface="Calibri"/>
              <a:cs typeface="Calibri"/>
              <a:sym typeface="Calibri"/>
            </a:endParaRPr>
          </a:p>
        </p:txBody>
      </p:sp>
      <p:sp>
        <p:nvSpPr>
          <p:cNvPr id="149" name="Google Shape;149;p8"/>
          <p:cNvSpPr/>
          <p:nvPr/>
        </p:nvSpPr>
        <p:spPr>
          <a:xfrm>
            <a:off x="1047750" y="674751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a:off x="1047750" y="6172200"/>
            <a:ext cx="489823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rPr>
              <a:t>Zhu et al., 2023 (TryOnDiffusion)</a:t>
            </a:r>
            <a:endParaRPr sz="2250">
              <a:solidFill>
                <a:schemeClr val="dk1"/>
              </a:solidFill>
              <a:latin typeface="Calibri"/>
              <a:ea typeface="Calibri"/>
              <a:cs typeface="Calibri"/>
              <a:sym typeface="Calibri"/>
            </a:endParaRPr>
          </a:p>
        </p:txBody>
      </p:sp>
      <p:sp>
        <p:nvSpPr>
          <p:cNvPr id="151" name="Google Shape;151;p8"/>
          <p:cNvSpPr/>
          <p:nvPr/>
        </p:nvSpPr>
        <p:spPr>
          <a:xfrm>
            <a:off x="5500688" y="6172200"/>
            <a:ext cx="712470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025"/>
              <a:buFont typeface="Arial"/>
              <a:buNone/>
            </a:pPr>
            <a:r>
              <a:rPr lang="en-US" sz="2025">
                <a:solidFill>
                  <a:srgbClr val="10101B"/>
                </a:solidFill>
              </a:rPr>
              <a:t>Diffusion-based</a:t>
            </a:r>
            <a:endParaRPr sz="2025">
              <a:solidFill>
                <a:schemeClr val="dk1"/>
              </a:solidFill>
              <a:latin typeface="Calibri"/>
              <a:ea typeface="Calibri"/>
              <a:cs typeface="Calibri"/>
              <a:sym typeface="Calibri"/>
            </a:endParaRPr>
          </a:p>
        </p:txBody>
      </p:sp>
      <p:sp>
        <p:nvSpPr>
          <p:cNvPr id="152" name="Google Shape;152;p8"/>
          <p:cNvSpPr/>
          <p:nvPr/>
        </p:nvSpPr>
        <p:spPr>
          <a:xfrm>
            <a:off x="11977688" y="6002080"/>
            <a:ext cx="5788819"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2025"/>
              <a:buFont typeface="Arial"/>
              <a:buNone/>
            </a:pPr>
            <a:r>
              <a:rPr lang="en-US" sz="2025" dirty="0">
                <a:solidFill>
                  <a:srgbClr val="4A4A5C"/>
                </a:solidFill>
              </a:rPr>
              <a:t>State-of-the-art realism but extremely high inference latency &amp; computational cost.</a:t>
            </a:r>
            <a:endParaRPr sz="2025" dirty="0">
              <a:solidFill>
                <a:schemeClr val="dk1"/>
              </a:solidFill>
              <a:latin typeface="Calibri"/>
              <a:ea typeface="Calibri"/>
              <a:cs typeface="Calibri"/>
              <a:sym typeface="Calibri"/>
            </a:endParaRPr>
          </a:p>
        </p:txBody>
      </p:sp>
      <p:sp>
        <p:nvSpPr>
          <p:cNvPr id="153" name="Google Shape;153;p8"/>
          <p:cNvSpPr/>
          <p:nvPr/>
        </p:nvSpPr>
        <p:spPr>
          <a:xfrm>
            <a:off x="1047750" y="7002780"/>
            <a:ext cx="4898231"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b="1">
                <a:solidFill>
                  <a:srgbClr val="10101B"/>
                </a:solidFill>
              </a:rPr>
              <a:t>Alibaba Qwen, 2023</a:t>
            </a:r>
            <a:endParaRPr sz="2250">
              <a:solidFill>
                <a:schemeClr val="dk1"/>
              </a:solidFill>
              <a:latin typeface="Calibri"/>
              <a:ea typeface="Calibri"/>
              <a:cs typeface="Calibri"/>
              <a:sym typeface="Calibri"/>
            </a:endParaRPr>
          </a:p>
        </p:txBody>
      </p:sp>
      <p:sp>
        <p:nvSpPr>
          <p:cNvPr id="154" name="Google Shape;154;p8"/>
          <p:cNvSpPr/>
          <p:nvPr/>
        </p:nvSpPr>
        <p:spPr>
          <a:xfrm>
            <a:off x="5500688" y="7002780"/>
            <a:ext cx="712470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025"/>
              <a:buFont typeface="Arial"/>
              <a:buNone/>
            </a:pPr>
            <a:r>
              <a:rPr lang="en-US" sz="2025">
                <a:solidFill>
                  <a:srgbClr val="10101B"/>
                </a:solidFill>
              </a:rPr>
              <a:t>Foundation Model</a:t>
            </a:r>
            <a:endParaRPr sz="2025">
              <a:solidFill>
                <a:schemeClr val="dk1"/>
              </a:solidFill>
              <a:latin typeface="Calibri"/>
              <a:ea typeface="Calibri"/>
              <a:cs typeface="Calibri"/>
              <a:sym typeface="Calibri"/>
            </a:endParaRPr>
          </a:p>
        </p:txBody>
      </p:sp>
      <p:sp>
        <p:nvSpPr>
          <p:cNvPr id="155" name="Google Shape;155;p8"/>
          <p:cNvSpPr/>
          <p:nvPr/>
        </p:nvSpPr>
        <p:spPr>
          <a:xfrm>
            <a:off x="11977688" y="6832660"/>
            <a:ext cx="5788819"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2025"/>
              <a:buFont typeface="Arial"/>
              <a:buNone/>
            </a:pPr>
            <a:r>
              <a:rPr lang="en-US" sz="2025" dirty="0">
                <a:solidFill>
                  <a:srgbClr val="4A4A5C"/>
                </a:solidFill>
              </a:rPr>
              <a:t>Highly flexible but not explicitly designed for VTON out-of-the-box; requires robust system integration.</a:t>
            </a:r>
            <a:endParaRPr sz="2025" dirty="0">
              <a:solidFill>
                <a:schemeClr val="dk1"/>
              </a:solidFill>
              <a:latin typeface="Calibri"/>
              <a:ea typeface="Calibri"/>
              <a:cs typeface="Calibri"/>
              <a:sym typeface="Calibri"/>
            </a:endParaRPr>
          </a:p>
        </p:txBody>
      </p:sp>
      <p:sp>
        <p:nvSpPr>
          <p:cNvPr id="156" name="Google Shape;156;p8"/>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7" name="Google Shape;157;p8"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158" name="Google Shape;158;p8"/>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159" name="Google Shape;159;p8"/>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06 / 15</a:t>
            </a:r>
            <a:endParaRPr sz="16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sp>
        <p:nvSpPr>
          <p:cNvPr id="165" name="Google Shape;165;p9"/>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05 — METHODOLOGY</a:t>
            </a:r>
            <a:endParaRPr sz="1875">
              <a:solidFill>
                <a:schemeClr val="dk1"/>
              </a:solidFill>
              <a:latin typeface="Calibri"/>
              <a:ea typeface="Calibri"/>
              <a:cs typeface="Calibri"/>
              <a:sym typeface="Calibri"/>
            </a:endParaRPr>
          </a:p>
        </p:txBody>
      </p:sp>
      <p:sp>
        <p:nvSpPr>
          <p:cNvPr id="166" name="Google Shape;166;p9"/>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Research Methodology</a:t>
            </a:r>
            <a:endParaRPr sz="4500">
              <a:solidFill>
                <a:schemeClr val="dk1"/>
              </a:solidFill>
              <a:latin typeface="Calibri"/>
              <a:ea typeface="Calibri"/>
              <a:cs typeface="Calibri"/>
              <a:sym typeface="Calibri"/>
            </a:endParaRPr>
          </a:p>
        </p:txBody>
      </p:sp>
      <p:sp>
        <p:nvSpPr>
          <p:cNvPr id="167" name="Google Shape;167;p9"/>
          <p:cNvSpPr/>
          <p:nvPr/>
        </p:nvSpPr>
        <p:spPr>
          <a:xfrm>
            <a:off x="1047750" y="4547225"/>
            <a:ext cx="3619500" cy="3089700"/>
          </a:xfrm>
          <a:prstGeom prst="roundRect">
            <a:avLst>
              <a:gd name="adj" fmla="val 75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a:off x="1303020" y="4897755"/>
            <a:ext cx="495300" cy="495300"/>
          </a:xfrm>
          <a:prstGeom prst="ellipse">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9"/>
          <p:cNvSpPr/>
          <p:nvPr/>
        </p:nvSpPr>
        <p:spPr>
          <a:xfrm>
            <a:off x="1264920" y="4897755"/>
            <a:ext cx="571500" cy="533400"/>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FFFFF"/>
              </a:buClr>
              <a:buSzPts val="1950"/>
              <a:buFont typeface="Arial"/>
              <a:buNone/>
            </a:pPr>
            <a:r>
              <a:rPr lang="en-US" sz="1950" b="1">
                <a:solidFill>
                  <a:srgbClr val="FFFFFF"/>
                </a:solidFill>
                <a:latin typeface="Arial"/>
                <a:ea typeface="Arial"/>
                <a:cs typeface="Arial"/>
                <a:sym typeface="Arial"/>
              </a:rPr>
              <a:t>1</a:t>
            </a:r>
            <a:endParaRPr sz="1950">
              <a:solidFill>
                <a:schemeClr val="dk1"/>
              </a:solidFill>
              <a:latin typeface="Calibri"/>
              <a:ea typeface="Calibri"/>
              <a:cs typeface="Calibri"/>
              <a:sym typeface="Calibri"/>
            </a:endParaRPr>
          </a:p>
        </p:txBody>
      </p:sp>
      <p:sp>
        <p:nvSpPr>
          <p:cNvPr id="170" name="Google Shape;170;p9"/>
          <p:cNvSpPr/>
          <p:nvPr/>
        </p:nvSpPr>
        <p:spPr>
          <a:xfrm>
            <a:off x="1303020" y="5526405"/>
            <a:ext cx="3419856"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r>
              <a:rPr lang="en-US" sz="1875" b="1">
                <a:solidFill>
                  <a:srgbClr val="10101B"/>
                </a:solidFill>
                <a:latin typeface="Arial"/>
                <a:ea typeface="Arial"/>
                <a:cs typeface="Arial"/>
                <a:sym typeface="Arial"/>
              </a:rPr>
              <a:t>Data Collection</a:t>
            </a:r>
            <a:endParaRPr sz="1875">
              <a:solidFill>
                <a:schemeClr val="dk1"/>
              </a:solidFill>
              <a:latin typeface="Calibri"/>
              <a:ea typeface="Calibri"/>
              <a:cs typeface="Calibri"/>
              <a:sym typeface="Calibri"/>
            </a:endParaRPr>
          </a:p>
        </p:txBody>
      </p:sp>
      <p:sp>
        <p:nvSpPr>
          <p:cNvPr id="171" name="Google Shape;171;p9"/>
          <p:cNvSpPr/>
          <p:nvPr/>
        </p:nvSpPr>
        <p:spPr>
          <a:xfrm>
            <a:off x="1303025" y="5934075"/>
            <a:ext cx="3085200" cy="403800"/>
          </a:xfrm>
          <a:prstGeom prst="rect">
            <a:avLst/>
          </a:prstGeom>
          <a:noFill/>
          <a:ln>
            <a:noFill/>
          </a:ln>
        </p:spPr>
        <p:txBody>
          <a:bodyPr spcFirstLastPara="1" wrap="square" lIns="25400" tIns="25400" rIns="25400" bIns="25400" anchor="t" anchorCtr="0">
            <a:noAutofit/>
          </a:bodyPr>
          <a:lstStyle/>
          <a:p>
            <a:pPr marL="0" marR="0" lvl="0" indent="0" algn="l" rtl="0">
              <a:lnSpc>
                <a:spcPct val="120312"/>
              </a:lnSpc>
              <a:spcBef>
                <a:spcPts val="0"/>
              </a:spcBef>
              <a:spcAft>
                <a:spcPts val="0"/>
              </a:spcAft>
              <a:buClr>
                <a:srgbClr val="4A4A5C"/>
              </a:buClr>
              <a:buSzPts val="1650"/>
              <a:buFont typeface="Arial"/>
              <a:buNone/>
            </a:pPr>
            <a:r>
              <a:rPr lang="en-US" sz="1650">
                <a:solidFill>
                  <a:srgbClr val="4A4A5C"/>
                </a:solidFill>
              </a:rPr>
              <a:t>Utilized VITON-HD dataset subset and custom e-commerce garment catalog for evaluation.</a:t>
            </a:r>
            <a:endParaRPr sz="1650">
              <a:solidFill>
                <a:schemeClr val="dk1"/>
              </a:solidFill>
              <a:latin typeface="Calibri"/>
              <a:ea typeface="Calibri"/>
              <a:cs typeface="Calibri"/>
              <a:sym typeface="Calibri"/>
            </a:endParaRPr>
          </a:p>
        </p:txBody>
      </p:sp>
      <p:sp>
        <p:nvSpPr>
          <p:cNvPr id="172" name="Google Shape;172;p9"/>
          <p:cNvSpPr/>
          <p:nvPr/>
        </p:nvSpPr>
        <p:spPr>
          <a:xfrm>
            <a:off x="4629150" y="5507355"/>
            <a:ext cx="647700" cy="4038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1200FF"/>
              </a:buClr>
              <a:buSzPts val="2550"/>
              <a:buFont typeface="Arial"/>
              <a:buNone/>
            </a:pPr>
            <a:r>
              <a:rPr lang="en-US" sz="2550">
                <a:solidFill>
                  <a:srgbClr val="1200FF"/>
                </a:solidFill>
                <a:latin typeface="Arial"/>
                <a:ea typeface="Arial"/>
                <a:cs typeface="Arial"/>
                <a:sym typeface="Arial"/>
              </a:rPr>
              <a:t>→</a:t>
            </a:r>
            <a:endParaRPr sz="2550">
              <a:solidFill>
                <a:schemeClr val="dk1"/>
              </a:solidFill>
              <a:latin typeface="Calibri"/>
              <a:ea typeface="Calibri"/>
              <a:cs typeface="Calibri"/>
              <a:sym typeface="Calibri"/>
            </a:endParaRPr>
          </a:p>
        </p:txBody>
      </p:sp>
      <p:sp>
        <p:nvSpPr>
          <p:cNvPr id="173" name="Google Shape;173;p9"/>
          <p:cNvSpPr/>
          <p:nvPr/>
        </p:nvSpPr>
        <p:spPr>
          <a:xfrm>
            <a:off x="5238750" y="4547225"/>
            <a:ext cx="3619500" cy="3089700"/>
          </a:xfrm>
          <a:prstGeom prst="roundRect">
            <a:avLst>
              <a:gd name="adj" fmla="val 75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a:off x="5494020" y="4897755"/>
            <a:ext cx="495300" cy="495300"/>
          </a:xfrm>
          <a:prstGeom prst="ellipse">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5455920" y="4897755"/>
            <a:ext cx="571500" cy="533400"/>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FFFFF"/>
              </a:buClr>
              <a:buSzPts val="1950"/>
              <a:buFont typeface="Arial"/>
              <a:buNone/>
            </a:pPr>
            <a:r>
              <a:rPr lang="en-US" sz="1950" b="1">
                <a:solidFill>
                  <a:srgbClr val="FFFFFF"/>
                </a:solidFill>
                <a:latin typeface="Arial"/>
                <a:ea typeface="Arial"/>
                <a:cs typeface="Arial"/>
                <a:sym typeface="Arial"/>
              </a:rPr>
              <a:t>2</a:t>
            </a:r>
            <a:endParaRPr sz="1950">
              <a:solidFill>
                <a:schemeClr val="dk1"/>
              </a:solidFill>
              <a:latin typeface="Calibri"/>
              <a:ea typeface="Calibri"/>
              <a:cs typeface="Calibri"/>
              <a:sym typeface="Calibri"/>
            </a:endParaRPr>
          </a:p>
        </p:txBody>
      </p:sp>
      <p:sp>
        <p:nvSpPr>
          <p:cNvPr id="176" name="Google Shape;176;p9"/>
          <p:cNvSpPr/>
          <p:nvPr/>
        </p:nvSpPr>
        <p:spPr>
          <a:xfrm>
            <a:off x="5494020" y="5526405"/>
            <a:ext cx="3419856"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r>
              <a:rPr lang="en-US" sz="1875" b="1">
                <a:solidFill>
                  <a:srgbClr val="10101B"/>
                </a:solidFill>
                <a:latin typeface="Arial"/>
                <a:ea typeface="Arial"/>
                <a:cs typeface="Arial"/>
                <a:sym typeface="Arial"/>
              </a:rPr>
              <a:t>Preprocessing</a:t>
            </a:r>
            <a:endParaRPr sz="1875">
              <a:solidFill>
                <a:schemeClr val="dk1"/>
              </a:solidFill>
              <a:latin typeface="Calibri"/>
              <a:ea typeface="Calibri"/>
              <a:cs typeface="Calibri"/>
              <a:sym typeface="Calibri"/>
            </a:endParaRPr>
          </a:p>
        </p:txBody>
      </p:sp>
      <p:sp>
        <p:nvSpPr>
          <p:cNvPr id="177" name="Google Shape;177;p9"/>
          <p:cNvSpPr/>
          <p:nvPr/>
        </p:nvSpPr>
        <p:spPr>
          <a:xfrm>
            <a:off x="5494024" y="5934075"/>
            <a:ext cx="3085200" cy="403800"/>
          </a:xfrm>
          <a:prstGeom prst="rect">
            <a:avLst/>
          </a:prstGeom>
          <a:noFill/>
          <a:ln>
            <a:noFill/>
          </a:ln>
        </p:spPr>
        <p:txBody>
          <a:bodyPr spcFirstLastPara="1" wrap="square" lIns="25400" tIns="25400" rIns="25400" bIns="25400" anchor="t" anchorCtr="0">
            <a:noAutofit/>
          </a:bodyPr>
          <a:lstStyle/>
          <a:p>
            <a:pPr marL="0" marR="0" lvl="0" indent="0" algn="l" rtl="0">
              <a:lnSpc>
                <a:spcPct val="120312"/>
              </a:lnSpc>
              <a:spcBef>
                <a:spcPts val="0"/>
              </a:spcBef>
              <a:spcAft>
                <a:spcPts val="0"/>
              </a:spcAft>
              <a:buClr>
                <a:srgbClr val="4A4A5C"/>
              </a:buClr>
              <a:buSzPts val="1650"/>
              <a:buFont typeface="Arial"/>
              <a:buNone/>
            </a:pPr>
            <a:r>
              <a:rPr lang="en-US" sz="1650">
                <a:solidFill>
                  <a:srgbClr val="4A4A5C"/>
                </a:solidFill>
              </a:rPr>
              <a:t>Background segmentation (U-Net) and dense pose-keypoint extraction to isolate subjects and ensure spatial alignment.</a:t>
            </a:r>
            <a:endParaRPr sz="1650">
              <a:solidFill>
                <a:schemeClr val="dk1"/>
              </a:solidFill>
              <a:latin typeface="Calibri"/>
              <a:ea typeface="Calibri"/>
              <a:cs typeface="Calibri"/>
              <a:sym typeface="Calibri"/>
            </a:endParaRPr>
          </a:p>
        </p:txBody>
      </p:sp>
      <p:sp>
        <p:nvSpPr>
          <p:cNvPr id="178" name="Google Shape;178;p9"/>
          <p:cNvSpPr/>
          <p:nvPr/>
        </p:nvSpPr>
        <p:spPr>
          <a:xfrm>
            <a:off x="8820150" y="5507355"/>
            <a:ext cx="647700" cy="4038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1200FF"/>
              </a:buClr>
              <a:buSzPts val="2550"/>
              <a:buFont typeface="Arial"/>
              <a:buNone/>
            </a:pPr>
            <a:r>
              <a:rPr lang="en-US" sz="2550">
                <a:solidFill>
                  <a:srgbClr val="1200FF"/>
                </a:solidFill>
                <a:latin typeface="Arial"/>
                <a:ea typeface="Arial"/>
                <a:cs typeface="Arial"/>
                <a:sym typeface="Arial"/>
              </a:rPr>
              <a:t>→</a:t>
            </a:r>
            <a:endParaRPr sz="2550">
              <a:solidFill>
                <a:schemeClr val="dk1"/>
              </a:solidFill>
              <a:latin typeface="Calibri"/>
              <a:ea typeface="Calibri"/>
              <a:cs typeface="Calibri"/>
              <a:sym typeface="Calibri"/>
            </a:endParaRPr>
          </a:p>
        </p:txBody>
      </p:sp>
      <p:sp>
        <p:nvSpPr>
          <p:cNvPr id="179" name="Google Shape;179;p9"/>
          <p:cNvSpPr/>
          <p:nvPr/>
        </p:nvSpPr>
        <p:spPr>
          <a:xfrm>
            <a:off x="9429750" y="4547225"/>
            <a:ext cx="3619500" cy="3089700"/>
          </a:xfrm>
          <a:prstGeom prst="roundRect">
            <a:avLst>
              <a:gd name="adj" fmla="val 75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9"/>
          <p:cNvSpPr/>
          <p:nvPr/>
        </p:nvSpPr>
        <p:spPr>
          <a:xfrm>
            <a:off x="9685020" y="4897755"/>
            <a:ext cx="495300" cy="495300"/>
          </a:xfrm>
          <a:prstGeom prst="ellipse">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9646920" y="4897755"/>
            <a:ext cx="571500" cy="533400"/>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FFFFF"/>
              </a:buClr>
              <a:buSzPts val="1950"/>
              <a:buFont typeface="Arial"/>
              <a:buNone/>
            </a:pPr>
            <a:r>
              <a:rPr lang="en-US" sz="1950" b="1">
                <a:solidFill>
                  <a:srgbClr val="FFFFFF"/>
                </a:solidFill>
                <a:latin typeface="Arial"/>
                <a:ea typeface="Arial"/>
                <a:cs typeface="Arial"/>
                <a:sym typeface="Arial"/>
              </a:rPr>
              <a:t>3</a:t>
            </a:r>
            <a:endParaRPr sz="1950">
              <a:solidFill>
                <a:schemeClr val="dk1"/>
              </a:solidFill>
              <a:latin typeface="Calibri"/>
              <a:ea typeface="Calibri"/>
              <a:cs typeface="Calibri"/>
              <a:sym typeface="Calibri"/>
            </a:endParaRPr>
          </a:p>
        </p:txBody>
      </p:sp>
      <p:sp>
        <p:nvSpPr>
          <p:cNvPr id="182" name="Google Shape;182;p9"/>
          <p:cNvSpPr/>
          <p:nvPr/>
        </p:nvSpPr>
        <p:spPr>
          <a:xfrm>
            <a:off x="9685020" y="5526405"/>
            <a:ext cx="3419856"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r>
              <a:rPr lang="en-US" sz="1875" b="1">
                <a:solidFill>
                  <a:srgbClr val="10101B"/>
                </a:solidFill>
                <a:latin typeface="Arial"/>
                <a:ea typeface="Arial"/>
                <a:cs typeface="Arial"/>
                <a:sym typeface="Arial"/>
              </a:rPr>
              <a:t>Proposed Approach</a:t>
            </a:r>
            <a:endParaRPr sz="1875">
              <a:solidFill>
                <a:schemeClr val="dk1"/>
              </a:solidFill>
              <a:latin typeface="Calibri"/>
              <a:ea typeface="Calibri"/>
              <a:cs typeface="Calibri"/>
              <a:sym typeface="Calibri"/>
            </a:endParaRPr>
          </a:p>
        </p:txBody>
      </p:sp>
      <p:sp>
        <p:nvSpPr>
          <p:cNvPr id="183" name="Google Shape;183;p9"/>
          <p:cNvSpPr/>
          <p:nvPr/>
        </p:nvSpPr>
        <p:spPr>
          <a:xfrm>
            <a:off x="9685025" y="5934075"/>
            <a:ext cx="3166800" cy="403800"/>
          </a:xfrm>
          <a:prstGeom prst="rect">
            <a:avLst/>
          </a:prstGeom>
          <a:noFill/>
          <a:ln>
            <a:noFill/>
          </a:ln>
        </p:spPr>
        <p:txBody>
          <a:bodyPr spcFirstLastPara="1" wrap="square" lIns="25400" tIns="25400" rIns="25400" bIns="25400" anchor="t" anchorCtr="0">
            <a:noAutofit/>
          </a:bodyPr>
          <a:lstStyle/>
          <a:p>
            <a:pPr marL="0" marR="0" lvl="0" indent="0" algn="l" rtl="0">
              <a:lnSpc>
                <a:spcPct val="120312"/>
              </a:lnSpc>
              <a:spcBef>
                <a:spcPts val="0"/>
              </a:spcBef>
              <a:spcAft>
                <a:spcPts val="0"/>
              </a:spcAft>
              <a:buClr>
                <a:srgbClr val="4A4A5C"/>
              </a:buClr>
              <a:buSzPts val="1650"/>
              <a:buFont typeface="Arial"/>
              <a:buNone/>
            </a:pPr>
            <a:r>
              <a:rPr lang="en-US" sz="1650">
                <a:solidFill>
                  <a:srgbClr val="4A4A5C"/>
                </a:solidFill>
              </a:rPr>
              <a:t>Orchestrated Qwen-Image foundation model within an asynchronous pipeline (Frontend → Golang API → Redis Queue → PyTorch Worker)</a:t>
            </a:r>
            <a:endParaRPr sz="1650">
              <a:solidFill>
                <a:schemeClr val="dk1"/>
              </a:solidFill>
              <a:latin typeface="Calibri"/>
              <a:ea typeface="Calibri"/>
              <a:cs typeface="Calibri"/>
              <a:sym typeface="Calibri"/>
            </a:endParaRPr>
          </a:p>
        </p:txBody>
      </p:sp>
      <p:sp>
        <p:nvSpPr>
          <p:cNvPr id="184" name="Google Shape;184;p9"/>
          <p:cNvSpPr/>
          <p:nvPr/>
        </p:nvSpPr>
        <p:spPr>
          <a:xfrm>
            <a:off x="13011150" y="5507355"/>
            <a:ext cx="647700" cy="4038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1200FF"/>
              </a:buClr>
              <a:buSzPts val="2550"/>
              <a:buFont typeface="Arial"/>
              <a:buNone/>
            </a:pPr>
            <a:r>
              <a:rPr lang="en-US" sz="2550">
                <a:solidFill>
                  <a:srgbClr val="1200FF"/>
                </a:solidFill>
                <a:latin typeface="Arial"/>
                <a:ea typeface="Arial"/>
                <a:cs typeface="Arial"/>
                <a:sym typeface="Arial"/>
              </a:rPr>
              <a:t>→</a:t>
            </a:r>
            <a:endParaRPr sz="2550">
              <a:solidFill>
                <a:schemeClr val="dk1"/>
              </a:solidFill>
              <a:latin typeface="Calibri"/>
              <a:ea typeface="Calibri"/>
              <a:cs typeface="Calibri"/>
              <a:sym typeface="Calibri"/>
            </a:endParaRPr>
          </a:p>
        </p:txBody>
      </p:sp>
      <p:sp>
        <p:nvSpPr>
          <p:cNvPr id="185" name="Google Shape;185;p9"/>
          <p:cNvSpPr/>
          <p:nvPr/>
        </p:nvSpPr>
        <p:spPr>
          <a:xfrm>
            <a:off x="13620750" y="4547225"/>
            <a:ext cx="3619500" cy="3089700"/>
          </a:xfrm>
          <a:prstGeom prst="roundRect">
            <a:avLst>
              <a:gd name="adj" fmla="val 75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9"/>
          <p:cNvSpPr/>
          <p:nvPr/>
        </p:nvSpPr>
        <p:spPr>
          <a:xfrm>
            <a:off x="13876020" y="4897755"/>
            <a:ext cx="495300" cy="495300"/>
          </a:xfrm>
          <a:prstGeom prst="ellipse">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a:off x="13837920" y="4897755"/>
            <a:ext cx="571500" cy="533400"/>
          </a:xfrm>
          <a:prstGeom prst="rect">
            <a:avLst/>
          </a:prstGeom>
          <a:noFill/>
          <a:ln>
            <a:noFill/>
          </a:ln>
        </p:spPr>
        <p:txBody>
          <a:bodyPr spcFirstLastPara="1" wrap="square" lIns="25400" tIns="25400" rIns="25400" bIns="25400" anchor="ctr" anchorCtr="0">
            <a:noAutofit/>
          </a:bodyPr>
          <a:lstStyle/>
          <a:p>
            <a:pPr marL="0" marR="0" lvl="0" indent="0" algn="ctr" rtl="0">
              <a:spcBef>
                <a:spcPts val="0"/>
              </a:spcBef>
              <a:spcAft>
                <a:spcPts val="0"/>
              </a:spcAft>
              <a:buClr>
                <a:srgbClr val="FFFFFF"/>
              </a:buClr>
              <a:buSzPts val="1950"/>
              <a:buFont typeface="Arial"/>
              <a:buNone/>
            </a:pPr>
            <a:r>
              <a:rPr lang="en-US" sz="1950" b="1">
                <a:solidFill>
                  <a:srgbClr val="FFFFFF"/>
                </a:solidFill>
                <a:latin typeface="Arial"/>
                <a:ea typeface="Arial"/>
                <a:cs typeface="Arial"/>
                <a:sym typeface="Arial"/>
              </a:rPr>
              <a:t>4</a:t>
            </a:r>
            <a:endParaRPr sz="1950">
              <a:solidFill>
                <a:schemeClr val="dk1"/>
              </a:solidFill>
              <a:latin typeface="Calibri"/>
              <a:ea typeface="Calibri"/>
              <a:cs typeface="Calibri"/>
              <a:sym typeface="Calibri"/>
            </a:endParaRPr>
          </a:p>
        </p:txBody>
      </p:sp>
      <p:sp>
        <p:nvSpPr>
          <p:cNvPr id="188" name="Google Shape;188;p9"/>
          <p:cNvSpPr/>
          <p:nvPr/>
        </p:nvSpPr>
        <p:spPr>
          <a:xfrm>
            <a:off x="13876020" y="5526405"/>
            <a:ext cx="3419856"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r>
              <a:rPr lang="en-US" sz="1875" b="1">
                <a:solidFill>
                  <a:srgbClr val="10101B"/>
                </a:solidFill>
                <a:latin typeface="Arial"/>
                <a:ea typeface="Arial"/>
                <a:cs typeface="Arial"/>
                <a:sym typeface="Arial"/>
              </a:rPr>
              <a:t>Evaluation</a:t>
            </a:r>
            <a:endParaRPr sz="1875">
              <a:solidFill>
                <a:schemeClr val="dk1"/>
              </a:solidFill>
              <a:latin typeface="Calibri"/>
              <a:ea typeface="Calibri"/>
              <a:cs typeface="Calibri"/>
              <a:sym typeface="Calibri"/>
            </a:endParaRPr>
          </a:p>
        </p:txBody>
      </p:sp>
      <p:sp>
        <p:nvSpPr>
          <p:cNvPr id="189" name="Google Shape;189;p9"/>
          <p:cNvSpPr/>
          <p:nvPr/>
        </p:nvSpPr>
        <p:spPr>
          <a:xfrm>
            <a:off x="13876025" y="5934075"/>
            <a:ext cx="3166800" cy="495300"/>
          </a:xfrm>
          <a:prstGeom prst="rect">
            <a:avLst/>
          </a:prstGeom>
          <a:noFill/>
          <a:ln>
            <a:noFill/>
          </a:ln>
        </p:spPr>
        <p:txBody>
          <a:bodyPr spcFirstLastPara="1" wrap="square" lIns="25400" tIns="25400" rIns="25400" bIns="25400" anchor="t" anchorCtr="0">
            <a:noAutofit/>
          </a:bodyPr>
          <a:lstStyle/>
          <a:p>
            <a:pPr marL="0" marR="0" lvl="0" indent="0" algn="l" rtl="0">
              <a:lnSpc>
                <a:spcPct val="120312"/>
              </a:lnSpc>
              <a:spcBef>
                <a:spcPts val="0"/>
              </a:spcBef>
              <a:spcAft>
                <a:spcPts val="0"/>
              </a:spcAft>
              <a:buClr>
                <a:srgbClr val="4A4A5C"/>
              </a:buClr>
              <a:buSzPts val="1650"/>
              <a:buFont typeface="Arial"/>
              <a:buNone/>
            </a:pPr>
            <a:r>
              <a:rPr lang="en-US" sz="1650">
                <a:solidFill>
                  <a:srgbClr val="4A4A5C"/>
                </a:solidFill>
              </a:rPr>
              <a:t>System metrics (End-to-end latency, throughput, resource utilization) and Visual metrics (FID, SSIM, LPIPS)</a:t>
            </a:r>
            <a:endParaRPr sz="1650">
              <a:solidFill>
                <a:schemeClr val="dk1"/>
              </a:solidFill>
              <a:latin typeface="Calibri"/>
              <a:ea typeface="Calibri"/>
              <a:cs typeface="Calibri"/>
              <a:sym typeface="Calibri"/>
            </a:endParaRPr>
          </a:p>
        </p:txBody>
      </p:sp>
      <p:sp>
        <p:nvSpPr>
          <p:cNvPr id="190" name="Google Shape;190;p9"/>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1" name="Google Shape;191;p9"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192" name="Google Shape;192;p9"/>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193" name="Google Shape;193;p9"/>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07 / 15</a:t>
            </a:r>
            <a:endParaRPr sz="16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sp>
        <p:nvSpPr>
          <p:cNvPr id="199" name="Google Shape;199;p10"/>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06 — SYSTEM DESIGN</a:t>
            </a:r>
            <a:endParaRPr sz="1875">
              <a:solidFill>
                <a:schemeClr val="dk1"/>
              </a:solidFill>
              <a:latin typeface="Calibri"/>
              <a:ea typeface="Calibri"/>
              <a:cs typeface="Calibri"/>
              <a:sym typeface="Calibri"/>
            </a:endParaRPr>
          </a:p>
        </p:txBody>
      </p:sp>
      <p:sp>
        <p:nvSpPr>
          <p:cNvPr id="200" name="Google Shape;200;p10"/>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System Architecture</a:t>
            </a:r>
            <a:endParaRPr sz="4500">
              <a:solidFill>
                <a:schemeClr val="dk1"/>
              </a:solidFill>
              <a:latin typeface="Calibri"/>
              <a:ea typeface="Calibri"/>
              <a:cs typeface="Calibri"/>
              <a:sym typeface="Calibri"/>
            </a:endParaRPr>
          </a:p>
        </p:txBody>
      </p:sp>
      <p:sp>
        <p:nvSpPr>
          <p:cNvPr id="201" name="Google Shape;201;p10"/>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2" name="Google Shape;202;p10"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203" name="Google Shape;203;p10"/>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204" name="Google Shape;204;p10"/>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08 / 15</a:t>
            </a:r>
            <a:endParaRPr sz="1650">
              <a:solidFill>
                <a:schemeClr val="dk1"/>
              </a:solidFill>
              <a:latin typeface="Calibri"/>
              <a:ea typeface="Calibri"/>
              <a:cs typeface="Calibri"/>
              <a:sym typeface="Calibri"/>
            </a:endParaRPr>
          </a:p>
        </p:txBody>
      </p:sp>
      <p:pic>
        <p:nvPicPr>
          <p:cNvPr id="205" name="Google Shape;205;p10"/>
          <p:cNvPicPr preferRelativeResize="0"/>
          <p:nvPr/>
        </p:nvPicPr>
        <p:blipFill>
          <a:blip r:embed="rId4">
            <a:alphaModFix/>
          </a:blip>
          <a:stretch>
            <a:fillRect/>
          </a:stretch>
        </p:blipFill>
        <p:spPr>
          <a:xfrm>
            <a:off x="11225200" y="1958340"/>
            <a:ext cx="4838584" cy="6777989"/>
          </a:xfrm>
          <a:prstGeom prst="rect">
            <a:avLst/>
          </a:prstGeom>
          <a:noFill/>
          <a:ln>
            <a:noFill/>
          </a:ln>
        </p:spPr>
      </p:pic>
      <p:sp>
        <p:nvSpPr>
          <p:cNvPr id="206" name="Google Shape;206;p10"/>
          <p:cNvSpPr txBox="1"/>
          <p:nvPr/>
        </p:nvSpPr>
        <p:spPr>
          <a:xfrm>
            <a:off x="1428750" y="2874500"/>
            <a:ext cx="8045100" cy="49665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SzPts val="2200"/>
              <a:buAutoNum type="arabicPeriod"/>
            </a:pPr>
            <a:r>
              <a:rPr lang="en-US" sz="2200" b="1"/>
              <a:t>Presentation Layer:</a:t>
            </a:r>
            <a:r>
              <a:rPr lang="en-US" sz="2200"/>
              <a:t> SvelteKit (Reactive UI, minimal bundle, polling/skeleton loaders for async feedback).</a:t>
            </a:r>
            <a:endParaRPr sz="2200"/>
          </a:p>
          <a:p>
            <a:pPr marL="0" lvl="0" indent="0" algn="l" rtl="0">
              <a:spcBef>
                <a:spcPts val="0"/>
              </a:spcBef>
              <a:spcAft>
                <a:spcPts val="0"/>
              </a:spcAft>
              <a:buNone/>
            </a:pPr>
            <a:endParaRPr sz="2200"/>
          </a:p>
          <a:p>
            <a:pPr marL="0" lvl="0" indent="0" algn="l" rtl="0">
              <a:spcBef>
                <a:spcPts val="0"/>
              </a:spcBef>
              <a:spcAft>
                <a:spcPts val="0"/>
              </a:spcAft>
              <a:buNone/>
            </a:pPr>
            <a:endParaRPr sz="2200"/>
          </a:p>
          <a:p>
            <a:pPr marL="457200" lvl="0" indent="-368300" algn="l" rtl="0">
              <a:spcBef>
                <a:spcPts val="0"/>
              </a:spcBef>
              <a:spcAft>
                <a:spcPts val="0"/>
              </a:spcAft>
              <a:buSzPts val="2200"/>
              <a:buAutoNum type="arabicPeriod"/>
            </a:pPr>
            <a:r>
              <a:rPr lang="en-US" sz="2200" b="1"/>
              <a:t>Application/API Layer: </a:t>
            </a:r>
            <a:r>
              <a:rPr lang="en-US" sz="2200"/>
              <a:t>Golang (High-concurrency API gateway, Redis-backed asynchronous task queue manager).</a:t>
            </a:r>
            <a:endParaRPr sz="2200"/>
          </a:p>
          <a:p>
            <a:pPr marL="0" lvl="0" indent="0" algn="l" rtl="0">
              <a:spcBef>
                <a:spcPts val="0"/>
              </a:spcBef>
              <a:spcAft>
                <a:spcPts val="0"/>
              </a:spcAft>
              <a:buNone/>
            </a:pPr>
            <a:endParaRPr sz="2200"/>
          </a:p>
          <a:p>
            <a:pPr marL="0" lvl="0" indent="0" algn="l" rtl="0">
              <a:spcBef>
                <a:spcPts val="0"/>
              </a:spcBef>
              <a:spcAft>
                <a:spcPts val="0"/>
              </a:spcAft>
              <a:buNone/>
            </a:pPr>
            <a:endParaRPr sz="2200"/>
          </a:p>
          <a:p>
            <a:pPr marL="457200" lvl="0" indent="-368300" algn="l" rtl="0">
              <a:spcBef>
                <a:spcPts val="0"/>
              </a:spcBef>
              <a:spcAft>
                <a:spcPts val="0"/>
              </a:spcAft>
              <a:buSzPts val="2200"/>
              <a:buAutoNum type="arabicPeriod"/>
            </a:pPr>
            <a:r>
              <a:rPr lang="en-US" sz="2200" b="1"/>
              <a:t>AI Processing Layer:</a:t>
            </a:r>
            <a:r>
              <a:rPr lang="en-US" sz="2200"/>
              <a:t> Python/PyTorch (Independent worker service executing preprocessing, Qwen-Image inference, and postprocessing).</a:t>
            </a:r>
            <a:endParaRPr sz="2200"/>
          </a:p>
          <a:p>
            <a:pPr marL="0" lvl="0" indent="0" algn="l" rtl="0">
              <a:spcBef>
                <a:spcPts val="0"/>
              </a:spcBef>
              <a:spcAft>
                <a:spcPts val="0"/>
              </a:spcAft>
              <a:buNone/>
            </a:pPr>
            <a:endParaRPr sz="2200"/>
          </a:p>
          <a:p>
            <a:pPr marL="0" lvl="0" indent="0" algn="l" rtl="0">
              <a:spcBef>
                <a:spcPts val="0"/>
              </a:spcBef>
              <a:spcAft>
                <a:spcPts val="0"/>
              </a:spcAft>
              <a:buNone/>
            </a:pPr>
            <a:endParaRPr sz="2200"/>
          </a:p>
          <a:p>
            <a:pPr marL="457200" lvl="0" indent="-368300" algn="l" rtl="0">
              <a:spcBef>
                <a:spcPts val="0"/>
              </a:spcBef>
              <a:spcAft>
                <a:spcPts val="0"/>
              </a:spcAft>
              <a:buSzPts val="2200"/>
              <a:buAutoNum type="arabicPeriod"/>
            </a:pPr>
            <a:r>
              <a:rPr lang="en-US" sz="2200" b="1"/>
              <a:t>Data/ Storage Layer: </a:t>
            </a:r>
            <a:r>
              <a:rPr lang="en-US" sz="2200"/>
              <a:t>Temporary object storage for images, Redis for task queue.</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1"/>
        <p:cNvGrpSpPr/>
        <p:nvPr/>
      </p:nvGrpSpPr>
      <p:grpSpPr>
        <a:xfrm>
          <a:off x="0" y="0"/>
          <a:ext cx="0" cy="0"/>
          <a:chOff x="0" y="0"/>
          <a:chExt cx="0" cy="0"/>
        </a:xfrm>
      </p:grpSpPr>
      <p:sp>
        <p:nvSpPr>
          <p:cNvPr id="212" name="Google Shape;212;p11"/>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07 — IMPLEMENTATION</a:t>
            </a:r>
            <a:endParaRPr sz="1875">
              <a:solidFill>
                <a:schemeClr val="dk1"/>
              </a:solidFill>
              <a:latin typeface="Calibri"/>
              <a:ea typeface="Calibri"/>
              <a:cs typeface="Calibri"/>
              <a:sym typeface="Calibri"/>
            </a:endParaRPr>
          </a:p>
        </p:txBody>
      </p:sp>
      <p:sp>
        <p:nvSpPr>
          <p:cNvPr id="213" name="Google Shape;213;p11"/>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Implementation Details</a:t>
            </a:r>
            <a:endParaRPr sz="4500">
              <a:solidFill>
                <a:schemeClr val="dk1"/>
              </a:solidFill>
              <a:latin typeface="Calibri"/>
              <a:ea typeface="Calibri"/>
              <a:cs typeface="Calibri"/>
              <a:sym typeface="Calibri"/>
            </a:endParaRPr>
          </a:p>
        </p:txBody>
      </p:sp>
      <p:sp>
        <p:nvSpPr>
          <p:cNvPr id="214" name="Google Shape;214;p11"/>
          <p:cNvSpPr/>
          <p:nvPr/>
        </p:nvSpPr>
        <p:spPr>
          <a:xfrm>
            <a:off x="1047750" y="4334828"/>
            <a:ext cx="8539163"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b="1">
                <a:solidFill>
                  <a:srgbClr val="4A4A5C"/>
                </a:solidFill>
                <a:latin typeface="Arial"/>
                <a:ea typeface="Arial"/>
                <a:cs typeface="Arial"/>
                <a:sym typeface="Arial"/>
              </a:rPr>
              <a:t>TOOLS &amp; TECHNOLOGIES</a:t>
            </a:r>
            <a:endParaRPr sz="1875">
              <a:solidFill>
                <a:schemeClr val="dk1"/>
              </a:solidFill>
              <a:latin typeface="Calibri"/>
              <a:ea typeface="Calibri"/>
              <a:cs typeface="Calibri"/>
              <a:sym typeface="Calibri"/>
            </a:endParaRPr>
          </a:p>
        </p:txBody>
      </p:sp>
      <p:sp>
        <p:nvSpPr>
          <p:cNvPr id="215" name="Google Shape;215;p11"/>
          <p:cNvSpPr/>
          <p:nvPr/>
        </p:nvSpPr>
        <p:spPr>
          <a:xfrm>
            <a:off x="1047750" y="4818697"/>
            <a:ext cx="1755696" cy="518160"/>
          </a:xfrm>
          <a:prstGeom prst="roundRect">
            <a:avLst>
              <a:gd name="adj" fmla="val 500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a:off x="1283970" y="4940617"/>
            <a:ext cx="1359456"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r>
              <a:rPr lang="en-US" sz="1875" b="1">
                <a:solidFill>
                  <a:srgbClr val="10101B"/>
                </a:solidFill>
              </a:rPr>
              <a:t>Go</a:t>
            </a:r>
            <a:endParaRPr sz="1875">
              <a:solidFill>
                <a:schemeClr val="dk1"/>
              </a:solidFill>
              <a:latin typeface="Calibri"/>
              <a:ea typeface="Calibri"/>
              <a:cs typeface="Calibri"/>
              <a:sym typeface="Calibri"/>
            </a:endParaRPr>
          </a:p>
        </p:txBody>
      </p:sp>
      <p:sp>
        <p:nvSpPr>
          <p:cNvPr id="217" name="Google Shape;217;p11"/>
          <p:cNvSpPr/>
          <p:nvPr/>
        </p:nvSpPr>
        <p:spPr>
          <a:xfrm>
            <a:off x="2936796" y="4818697"/>
            <a:ext cx="1901547" cy="518160"/>
          </a:xfrm>
          <a:prstGeom prst="roundRect">
            <a:avLst>
              <a:gd name="adj" fmla="val 500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a:off x="3173016" y="4940617"/>
            <a:ext cx="1505307"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r>
              <a:rPr lang="en-US" sz="1875" b="1">
                <a:solidFill>
                  <a:srgbClr val="10101B"/>
                </a:solidFill>
              </a:rPr>
              <a:t>Svelte</a:t>
            </a:r>
            <a:endParaRPr sz="1875">
              <a:solidFill>
                <a:schemeClr val="dk1"/>
              </a:solidFill>
              <a:latin typeface="Calibri"/>
              <a:ea typeface="Calibri"/>
              <a:cs typeface="Calibri"/>
              <a:sym typeface="Calibri"/>
            </a:endParaRPr>
          </a:p>
        </p:txBody>
      </p:sp>
      <p:sp>
        <p:nvSpPr>
          <p:cNvPr id="219" name="Google Shape;219;p11"/>
          <p:cNvSpPr/>
          <p:nvPr/>
        </p:nvSpPr>
        <p:spPr>
          <a:xfrm>
            <a:off x="4971702" y="4818700"/>
            <a:ext cx="1755600" cy="518100"/>
          </a:xfrm>
          <a:prstGeom prst="roundRect">
            <a:avLst>
              <a:gd name="adj" fmla="val 500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1"/>
          <p:cNvSpPr/>
          <p:nvPr/>
        </p:nvSpPr>
        <p:spPr>
          <a:xfrm>
            <a:off x="5207913" y="4940617"/>
            <a:ext cx="1042154"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endParaRPr sz="1875">
              <a:solidFill>
                <a:schemeClr val="dk1"/>
              </a:solidFill>
              <a:latin typeface="Calibri"/>
              <a:ea typeface="Calibri"/>
              <a:cs typeface="Calibri"/>
              <a:sym typeface="Calibri"/>
            </a:endParaRPr>
          </a:p>
        </p:txBody>
      </p:sp>
      <p:sp>
        <p:nvSpPr>
          <p:cNvPr id="221" name="Google Shape;221;p11"/>
          <p:cNvSpPr/>
          <p:nvPr/>
        </p:nvSpPr>
        <p:spPr>
          <a:xfrm>
            <a:off x="6895775" y="4818700"/>
            <a:ext cx="1505400" cy="518100"/>
          </a:xfrm>
          <a:prstGeom prst="roundRect">
            <a:avLst>
              <a:gd name="adj" fmla="val 500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a:off x="7000625" y="4940600"/>
            <a:ext cx="1284300" cy="3123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endParaRPr sz="1875" b="1">
              <a:solidFill>
                <a:schemeClr val="dk1"/>
              </a:solidFill>
            </a:endParaRPr>
          </a:p>
        </p:txBody>
      </p:sp>
      <p:sp>
        <p:nvSpPr>
          <p:cNvPr id="223" name="Google Shape;223;p11"/>
          <p:cNvSpPr/>
          <p:nvPr/>
        </p:nvSpPr>
        <p:spPr>
          <a:xfrm>
            <a:off x="1047750" y="5470199"/>
            <a:ext cx="2253900" cy="518100"/>
          </a:xfrm>
          <a:prstGeom prst="roundRect">
            <a:avLst>
              <a:gd name="adj" fmla="val 50000"/>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1"/>
          <p:cNvSpPr/>
          <p:nvPr/>
        </p:nvSpPr>
        <p:spPr>
          <a:xfrm>
            <a:off x="1283979" y="5592125"/>
            <a:ext cx="2253900" cy="2820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1875"/>
              <a:buFont typeface="Arial"/>
              <a:buNone/>
            </a:pPr>
            <a:r>
              <a:rPr lang="en-US" sz="1875" b="1">
                <a:solidFill>
                  <a:srgbClr val="10101B"/>
                </a:solidFill>
              </a:rPr>
              <a:t>Mobile &amp; Web</a:t>
            </a:r>
            <a:endParaRPr sz="1875">
              <a:solidFill>
                <a:schemeClr val="dk1"/>
              </a:solidFill>
              <a:latin typeface="Calibri"/>
              <a:ea typeface="Calibri"/>
              <a:cs typeface="Calibri"/>
              <a:sym typeface="Calibri"/>
            </a:endParaRPr>
          </a:p>
        </p:txBody>
      </p:sp>
      <p:sp>
        <p:nvSpPr>
          <p:cNvPr id="225" name="Google Shape;225;p11"/>
          <p:cNvSpPr/>
          <p:nvPr/>
        </p:nvSpPr>
        <p:spPr>
          <a:xfrm>
            <a:off x="1047750" y="6274118"/>
            <a:ext cx="7995761" cy="809625"/>
          </a:xfrm>
          <a:prstGeom prst="rect">
            <a:avLst/>
          </a:prstGeom>
          <a:noFill/>
          <a:ln>
            <a:noFill/>
          </a:ln>
        </p:spPr>
        <p:txBody>
          <a:bodyPr spcFirstLastPara="1" wrap="square" lIns="25400" tIns="25400" rIns="25400" bIns="25400" anchor="t" anchorCtr="0">
            <a:noAutofit/>
          </a:bodyPr>
          <a:lstStyle/>
          <a:p>
            <a:pPr marL="0" marR="0" lvl="0" indent="0" algn="l" rtl="0">
              <a:lnSpc>
                <a:spcPct val="129808"/>
              </a:lnSpc>
              <a:spcBef>
                <a:spcPts val="0"/>
              </a:spcBef>
              <a:spcAft>
                <a:spcPts val="0"/>
              </a:spcAft>
              <a:buClr>
                <a:srgbClr val="10101B"/>
              </a:buClr>
              <a:buSzPts val="2025"/>
              <a:buFont typeface="Arial"/>
              <a:buNone/>
            </a:pPr>
            <a:r>
              <a:rPr lang="en-US" sz="2025">
                <a:solidFill>
                  <a:srgbClr val="10101B"/>
                </a:solidFill>
              </a:rPr>
              <a:t>Decoupling the web server (Golang) from the GPU-bound AI worker (Python) using an asynchronous task queue (Redis). This prevents I/O blocking, allowing the API to handle thousands of concurrent connections without timing out while the GPU processes tasks sequentially.</a:t>
            </a:r>
            <a:endParaRPr sz="2025">
              <a:solidFill>
                <a:schemeClr val="dk1"/>
              </a:solidFill>
              <a:latin typeface="Calibri"/>
              <a:ea typeface="Calibri"/>
              <a:cs typeface="Calibri"/>
              <a:sym typeface="Calibri"/>
            </a:endParaRPr>
          </a:p>
        </p:txBody>
      </p:sp>
      <p:sp>
        <p:nvSpPr>
          <p:cNvPr id="226" name="Google Shape;226;p11"/>
          <p:cNvSpPr/>
          <p:nvPr/>
        </p:nvSpPr>
        <p:spPr>
          <a:xfrm>
            <a:off x="9477375" y="3880485"/>
            <a:ext cx="7762875" cy="3619500"/>
          </a:xfrm>
          <a:prstGeom prst="roundRect">
            <a:avLst>
              <a:gd name="adj" fmla="val 4737"/>
            </a:avLst>
          </a:prstGeom>
          <a:solidFill>
            <a:srgbClr val="101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a:off x="9858375" y="4261485"/>
            <a:ext cx="7210901" cy="394335"/>
          </a:xfrm>
          <a:prstGeom prst="rect">
            <a:avLst/>
          </a:prstGeom>
          <a:noFill/>
          <a:ln>
            <a:noFill/>
          </a:ln>
        </p:spPr>
        <p:txBody>
          <a:bodyPr spcFirstLastPara="1" wrap="square" lIns="25400" tIns="25400" rIns="25400" bIns="25400" anchor="t" anchorCtr="0">
            <a:noAutofit/>
          </a:bodyPr>
          <a:lstStyle/>
          <a:p>
            <a:pPr marL="0" marR="0" lvl="0" indent="0" algn="l" rtl="0">
              <a:lnSpc>
                <a:spcPct val="150806"/>
              </a:lnSpc>
              <a:spcBef>
                <a:spcPts val="0"/>
              </a:spcBef>
              <a:spcAft>
                <a:spcPts val="0"/>
              </a:spcAft>
              <a:buClr>
                <a:srgbClr val="7D8CFF"/>
              </a:buClr>
              <a:buSzPts val="1650"/>
              <a:buFont typeface="Courier New"/>
              <a:buNone/>
            </a:pPr>
            <a:r>
              <a:rPr lang="en-US" sz="1650">
                <a:solidFill>
                  <a:srgbClr val="7D8CFF"/>
                </a:solidFill>
                <a:latin typeface="Courier New"/>
                <a:ea typeface="Courier New"/>
                <a:cs typeface="Courier New"/>
                <a:sym typeface="Courier New"/>
              </a:rPr>
              <a:t>// pesudo workflow code</a:t>
            </a:r>
            <a:endParaRPr sz="1650">
              <a:solidFill>
                <a:schemeClr val="dk1"/>
              </a:solidFill>
              <a:latin typeface="Calibri"/>
              <a:ea typeface="Calibri"/>
              <a:cs typeface="Calibri"/>
              <a:sym typeface="Calibri"/>
            </a:endParaRPr>
          </a:p>
        </p:txBody>
      </p:sp>
      <p:sp>
        <p:nvSpPr>
          <p:cNvPr id="228" name="Google Shape;228;p11"/>
          <p:cNvSpPr/>
          <p:nvPr/>
        </p:nvSpPr>
        <p:spPr>
          <a:xfrm>
            <a:off x="9858375" y="4617720"/>
            <a:ext cx="7210901" cy="394335"/>
          </a:xfrm>
          <a:prstGeom prst="rect">
            <a:avLst/>
          </a:prstGeom>
          <a:noFill/>
          <a:ln>
            <a:noFill/>
          </a:ln>
        </p:spPr>
        <p:txBody>
          <a:bodyPr spcFirstLastPara="1" wrap="square" lIns="25400" tIns="25400" rIns="25400" bIns="25400" anchor="t" anchorCtr="0">
            <a:noAutofit/>
          </a:bodyPr>
          <a:lstStyle/>
          <a:p>
            <a:pPr marL="0" lvl="0" indent="0" algn="l" rtl="0">
              <a:lnSpc>
                <a:spcPct val="150806"/>
              </a:lnSpc>
              <a:spcBef>
                <a:spcPts val="0"/>
              </a:spcBef>
              <a:spcAft>
                <a:spcPts val="0"/>
              </a:spcAft>
              <a:buClr>
                <a:schemeClr val="dk1"/>
              </a:buClr>
              <a:buSzPts val="1100"/>
              <a:buFont typeface="Arial"/>
              <a:buNone/>
            </a:pPr>
            <a:r>
              <a:rPr lang="en-US" sz="1650">
                <a:solidFill>
                  <a:srgbClr val="B9E1FF"/>
                </a:solidFill>
                <a:latin typeface="Courier New"/>
                <a:ea typeface="Courier New"/>
                <a:cs typeface="Courier New"/>
                <a:sym typeface="Courier New"/>
              </a:rPr>
              <a:t>function </a:t>
            </a:r>
            <a:r>
              <a:rPr lang="en-US" sz="1650">
                <a:solidFill>
                  <a:srgbClr val="FFD48A"/>
                </a:solidFill>
                <a:latin typeface="Courier New"/>
                <a:ea typeface="Courier New"/>
                <a:cs typeface="Courier New"/>
                <a:sym typeface="Courier New"/>
              </a:rPr>
              <a:t>handleTryOnRequest(</a:t>
            </a:r>
            <a:r>
              <a:rPr lang="en-US" sz="1650">
                <a:solidFill>
                  <a:srgbClr val="B9E1FF"/>
                </a:solidFill>
                <a:latin typeface="Courier New"/>
                <a:ea typeface="Courier New"/>
                <a:cs typeface="Courier New"/>
                <a:sym typeface="Courier New"/>
              </a:rPr>
              <a:t>userImage</a:t>
            </a:r>
            <a:r>
              <a:rPr lang="en-US" sz="1650">
                <a:solidFill>
                  <a:srgbClr val="FFD48A"/>
                </a:solidFill>
                <a:latin typeface="Courier New"/>
                <a:ea typeface="Courier New"/>
                <a:cs typeface="Courier New"/>
                <a:sym typeface="Courier New"/>
              </a:rPr>
              <a:t>, </a:t>
            </a:r>
            <a:r>
              <a:rPr lang="en-US" sz="1650">
                <a:solidFill>
                  <a:srgbClr val="B9E1FF"/>
                </a:solidFill>
                <a:latin typeface="Courier New"/>
                <a:ea typeface="Courier New"/>
                <a:cs typeface="Courier New"/>
                <a:sym typeface="Courier New"/>
              </a:rPr>
              <a:t>garmentImage</a:t>
            </a:r>
            <a:r>
              <a:rPr lang="en-US" sz="1650">
                <a:solidFill>
                  <a:srgbClr val="FFD48A"/>
                </a:solidFill>
                <a:latin typeface="Courier New"/>
                <a:ea typeface="Courier New"/>
                <a:cs typeface="Courier New"/>
                <a:sym typeface="Courier New"/>
              </a:rPr>
              <a:t>)</a:t>
            </a:r>
            <a:r>
              <a:rPr lang="en-US" sz="1650">
                <a:solidFill>
                  <a:srgbClr val="B9E1FF"/>
                </a:solidFill>
                <a:latin typeface="Courier New"/>
                <a:ea typeface="Courier New"/>
                <a:cs typeface="Courier New"/>
                <a:sym typeface="Courier New"/>
              </a:rPr>
              <a:t> {</a:t>
            </a:r>
            <a:endParaRPr sz="1650">
              <a:solidFill>
                <a:srgbClr val="B9E1FF"/>
              </a:solidFill>
              <a:latin typeface="Courier New"/>
              <a:ea typeface="Courier New"/>
              <a:cs typeface="Courier New"/>
              <a:sym typeface="Courier New"/>
            </a:endParaRPr>
          </a:p>
          <a:p>
            <a:pPr marL="0" lvl="0" indent="0" algn="l" rtl="0">
              <a:lnSpc>
                <a:spcPct val="150806"/>
              </a:lnSpc>
              <a:spcBef>
                <a:spcPts val="0"/>
              </a:spcBef>
              <a:spcAft>
                <a:spcPts val="0"/>
              </a:spcAft>
              <a:buClr>
                <a:schemeClr val="dk1"/>
              </a:buClr>
              <a:buSzPts val="1100"/>
              <a:buFont typeface="Arial"/>
              <a:buNone/>
            </a:pPr>
            <a:endParaRPr sz="1650">
              <a:solidFill>
                <a:srgbClr val="B9E1FF"/>
              </a:solidFill>
              <a:latin typeface="Courier New"/>
              <a:ea typeface="Courier New"/>
              <a:cs typeface="Courier New"/>
              <a:sym typeface="Courier New"/>
            </a:endParaRPr>
          </a:p>
          <a:p>
            <a:pPr marL="0" marR="0" lvl="0" indent="0" algn="l" rtl="0">
              <a:lnSpc>
                <a:spcPct val="150806"/>
              </a:lnSpc>
              <a:spcBef>
                <a:spcPts val="0"/>
              </a:spcBef>
              <a:spcAft>
                <a:spcPts val="0"/>
              </a:spcAft>
              <a:buClr>
                <a:srgbClr val="B9E1FF"/>
              </a:buClr>
              <a:buSzPts val="1650"/>
              <a:buFont typeface="Courier New"/>
              <a:buNone/>
            </a:pPr>
            <a:endParaRPr sz="1650">
              <a:solidFill>
                <a:srgbClr val="B9E1FF"/>
              </a:solidFill>
              <a:latin typeface="Courier New"/>
              <a:ea typeface="Courier New"/>
              <a:cs typeface="Courier New"/>
              <a:sym typeface="Courier New"/>
            </a:endParaRPr>
          </a:p>
        </p:txBody>
      </p:sp>
      <p:sp>
        <p:nvSpPr>
          <p:cNvPr id="229" name="Google Shape;229;p11"/>
          <p:cNvSpPr/>
          <p:nvPr/>
        </p:nvSpPr>
        <p:spPr>
          <a:xfrm>
            <a:off x="9858375" y="4973930"/>
            <a:ext cx="7210800" cy="1934100"/>
          </a:xfrm>
          <a:prstGeom prst="rect">
            <a:avLst/>
          </a:prstGeom>
          <a:noFill/>
          <a:ln>
            <a:noFill/>
          </a:ln>
        </p:spPr>
        <p:txBody>
          <a:bodyPr spcFirstLastPara="1" wrap="square" lIns="25400" tIns="25400" rIns="25400" bIns="25400" anchor="t" anchorCtr="0">
            <a:noAutofit/>
          </a:bodyPr>
          <a:lstStyle/>
          <a:p>
            <a:pPr marL="0" marR="0" lvl="0" indent="0" algn="l" rtl="0">
              <a:lnSpc>
                <a:spcPct val="150806"/>
              </a:lnSpc>
              <a:spcBef>
                <a:spcPts val="0"/>
              </a:spcBef>
              <a:spcAft>
                <a:spcPts val="0"/>
              </a:spcAft>
              <a:buClr>
                <a:srgbClr val="B9E1FF"/>
              </a:buClr>
              <a:buSzPts val="1650"/>
              <a:buFont typeface="Courier New"/>
              <a:buNone/>
            </a:pPr>
            <a:r>
              <a:rPr lang="en-US" sz="1650">
                <a:solidFill>
                  <a:srgbClr val="B9E1FF"/>
                </a:solidFill>
                <a:latin typeface="Courier New"/>
                <a:ea typeface="Courier New"/>
                <a:cs typeface="Courier New"/>
                <a:sym typeface="Courier New"/>
              </a:rPr>
              <a:t>   taskID = </a:t>
            </a:r>
            <a:r>
              <a:rPr lang="en-US" sz="1650">
                <a:solidFill>
                  <a:srgbClr val="FFD48A"/>
                </a:solidFill>
                <a:latin typeface="Courier New"/>
                <a:ea typeface="Courier New"/>
                <a:cs typeface="Courier New"/>
                <a:sym typeface="Courier New"/>
              </a:rPr>
              <a:t>generateUniqueID()</a:t>
            </a:r>
            <a:endParaRPr sz="1650">
              <a:solidFill>
                <a:srgbClr val="FFD48A"/>
              </a:solidFill>
              <a:latin typeface="Courier New"/>
              <a:ea typeface="Courier New"/>
              <a:cs typeface="Courier New"/>
              <a:sym typeface="Courier New"/>
            </a:endParaRPr>
          </a:p>
          <a:p>
            <a:pPr marL="0" marR="0" lvl="0" indent="0" algn="l" rtl="0">
              <a:lnSpc>
                <a:spcPct val="150806"/>
              </a:lnSpc>
              <a:spcBef>
                <a:spcPts val="0"/>
              </a:spcBef>
              <a:spcAft>
                <a:spcPts val="0"/>
              </a:spcAft>
              <a:buClr>
                <a:srgbClr val="B9E1FF"/>
              </a:buClr>
              <a:buSzPts val="1650"/>
              <a:buFont typeface="Courier New"/>
              <a:buNone/>
            </a:pPr>
            <a:r>
              <a:rPr lang="en-US" sz="1650">
                <a:solidFill>
                  <a:srgbClr val="7D8CFF"/>
                </a:solidFill>
                <a:latin typeface="Courier New"/>
                <a:ea typeface="Courier New"/>
                <a:cs typeface="Courier New"/>
                <a:sym typeface="Courier New"/>
              </a:rPr>
              <a:t>   // Async dispatch directly to AI pipeline</a:t>
            </a:r>
            <a:endParaRPr sz="1650">
              <a:solidFill>
                <a:srgbClr val="7D8CFF"/>
              </a:solidFill>
              <a:latin typeface="Courier New"/>
              <a:ea typeface="Courier New"/>
              <a:cs typeface="Courier New"/>
              <a:sym typeface="Courier New"/>
            </a:endParaRPr>
          </a:p>
          <a:p>
            <a:pPr marL="0" marR="0" lvl="0" indent="0" algn="l" rtl="0">
              <a:lnSpc>
                <a:spcPct val="150806"/>
              </a:lnSpc>
              <a:spcBef>
                <a:spcPts val="0"/>
              </a:spcBef>
              <a:spcAft>
                <a:spcPts val="0"/>
              </a:spcAft>
              <a:buClr>
                <a:srgbClr val="B9E1FF"/>
              </a:buClr>
              <a:buSzPts val="1650"/>
              <a:buFont typeface="Courier New"/>
              <a:buNone/>
            </a:pPr>
            <a:r>
              <a:rPr lang="en-US" sz="1650">
                <a:solidFill>
                  <a:srgbClr val="B9E1FF"/>
                </a:solidFill>
                <a:latin typeface="Courier New"/>
                <a:ea typeface="Courier New"/>
                <a:cs typeface="Courier New"/>
                <a:sym typeface="Courier New"/>
              </a:rPr>
              <a:t>   AIPipeline.</a:t>
            </a:r>
            <a:r>
              <a:rPr lang="en-US" sz="1650">
                <a:solidFill>
                  <a:srgbClr val="FFD48A"/>
                </a:solidFill>
                <a:latin typeface="Courier New"/>
                <a:ea typeface="Courier New"/>
                <a:cs typeface="Courier New"/>
                <a:sym typeface="Courier New"/>
              </a:rPr>
              <a:t>Queue</a:t>
            </a:r>
            <a:r>
              <a:rPr lang="en-US" sz="1650">
                <a:solidFill>
                  <a:srgbClr val="B9E1FF"/>
                </a:solidFill>
                <a:latin typeface="Courier New"/>
                <a:ea typeface="Courier New"/>
                <a:cs typeface="Courier New"/>
                <a:sym typeface="Courier New"/>
              </a:rPr>
              <a:t>(taskID, userImage, garmentImage) </a:t>
            </a:r>
            <a:endParaRPr sz="1650">
              <a:solidFill>
                <a:srgbClr val="B9E1FF"/>
              </a:solidFill>
              <a:latin typeface="Courier New"/>
              <a:ea typeface="Courier New"/>
              <a:cs typeface="Courier New"/>
              <a:sym typeface="Courier New"/>
            </a:endParaRPr>
          </a:p>
          <a:p>
            <a:pPr marL="0" marR="0" lvl="0" indent="0" algn="l" rtl="0">
              <a:lnSpc>
                <a:spcPct val="150806"/>
              </a:lnSpc>
              <a:spcBef>
                <a:spcPts val="0"/>
              </a:spcBef>
              <a:spcAft>
                <a:spcPts val="0"/>
              </a:spcAft>
              <a:buClr>
                <a:srgbClr val="B9E1FF"/>
              </a:buClr>
              <a:buSzPts val="1650"/>
              <a:buFont typeface="Courier New"/>
              <a:buNone/>
            </a:pPr>
            <a:r>
              <a:rPr lang="en-US" sz="1650">
                <a:solidFill>
                  <a:srgbClr val="B9E1FF"/>
                </a:solidFill>
                <a:latin typeface="Courier New"/>
                <a:ea typeface="Courier New"/>
                <a:cs typeface="Courier New"/>
                <a:sym typeface="Courier New"/>
              </a:rPr>
              <a:t>   </a:t>
            </a:r>
            <a:r>
              <a:rPr lang="en-US" sz="1650">
                <a:solidFill>
                  <a:srgbClr val="FFD48A"/>
                </a:solidFill>
                <a:latin typeface="Courier New"/>
                <a:ea typeface="Courier New"/>
                <a:cs typeface="Courier New"/>
                <a:sym typeface="Courier New"/>
              </a:rPr>
              <a:t>return</a:t>
            </a:r>
            <a:r>
              <a:rPr lang="en-US" sz="1650">
                <a:solidFill>
                  <a:srgbClr val="B9E1FF"/>
                </a:solidFill>
                <a:latin typeface="Courier New"/>
                <a:ea typeface="Courier New"/>
                <a:cs typeface="Courier New"/>
                <a:sym typeface="Courier New"/>
              </a:rPr>
              <a:t> { </a:t>
            </a:r>
            <a:r>
              <a:rPr lang="en-US" sz="1650">
                <a:solidFill>
                  <a:srgbClr val="FFD48A"/>
                </a:solidFill>
                <a:latin typeface="Courier New"/>
                <a:ea typeface="Courier New"/>
                <a:cs typeface="Courier New"/>
                <a:sym typeface="Courier New"/>
              </a:rPr>
              <a:t>status</a:t>
            </a:r>
            <a:r>
              <a:rPr lang="en-US" sz="1650">
                <a:solidFill>
                  <a:srgbClr val="B9E1FF"/>
                </a:solidFill>
                <a:latin typeface="Courier New"/>
                <a:ea typeface="Courier New"/>
                <a:cs typeface="Courier New"/>
                <a:sym typeface="Courier New"/>
              </a:rPr>
              <a:t>: "QUEUED", </a:t>
            </a:r>
            <a:r>
              <a:rPr lang="en-US" sz="1650">
                <a:solidFill>
                  <a:srgbClr val="FFD48A"/>
                </a:solidFill>
                <a:latin typeface="Courier New"/>
                <a:ea typeface="Courier New"/>
                <a:cs typeface="Courier New"/>
                <a:sym typeface="Courier New"/>
              </a:rPr>
              <a:t>taskID</a:t>
            </a:r>
            <a:r>
              <a:rPr lang="en-US" sz="1650">
                <a:solidFill>
                  <a:srgbClr val="B9E1FF"/>
                </a:solidFill>
                <a:latin typeface="Courier New"/>
                <a:ea typeface="Courier New"/>
                <a:cs typeface="Courier New"/>
                <a:sym typeface="Courier New"/>
              </a:rPr>
              <a:t>: taskID }</a:t>
            </a:r>
            <a:br>
              <a:rPr lang="en-US" sz="1650">
                <a:solidFill>
                  <a:srgbClr val="B9E1FF"/>
                </a:solidFill>
                <a:latin typeface="Courier New"/>
                <a:ea typeface="Courier New"/>
                <a:cs typeface="Courier New"/>
                <a:sym typeface="Courier New"/>
              </a:rPr>
            </a:br>
            <a:r>
              <a:rPr lang="en-US" sz="1650">
                <a:solidFill>
                  <a:srgbClr val="B9E1FF"/>
                </a:solidFill>
                <a:latin typeface="Courier New"/>
                <a:ea typeface="Courier New"/>
                <a:cs typeface="Courier New"/>
                <a:sym typeface="Courier New"/>
              </a:rPr>
              <a:t>}</a:t>
            </a:r>
            <a:endParaRPr sz="1650">
              <a:solidFill>
                <a:srgbClr val="B9E1FF"/>
              </a:solidFill>
              <a:latin typeface="Courier New"/>
              <a:ea typeface="Courier New"/>
              <a:cs typeface="Courier New"/>
              <a:sym typeface="Courier New"/>
            </a:endParaRPr>
          </a:p>
        </p:txBody>
      </p:sp>
      <p:sp>
        <p:nvSpPr>
          <p:cNvPr id="230" name="Google Shape;230;p11"/>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1" name="Google Shape;231;p11"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232" name="Google Shape;232;p11"/>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233" name="Google Shape;233;p11"/>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09 / 15</a:t>
            </a:r>
            <a:endParaRPr sz="1650">
              <a:solidFill>
                <a:schemeClr val="dk1"/>
              </a:solidFill>
              <a:latin typeface="Calibri"/>
              <a:ea typeface="Calibri"/>
              <a:cs typeface="Calibri"/>
              <a:sym typeface="Calibri"/>
            </a:endParaRPr>
          </a:p>
        </p:txBody>
      </p:sp>
      <p:pic>
        <p:nvPicPr>
          <p:cNvPr id="234" name="Google Shape;234;p11"/>
          <p:cNvPicPr preferRelativeResize="0"/>
          <p:nvPr/>
        </p:nvPicPr>
        <p:blipFill>
          <a:blip r:embed="rId4">
            <a:alphaModFix/>
          </a:blip>
          <a:stretch>
            <a:fillRect/>
          </a:stretch>
        </p:blipFill>
        <p:spPr>
          <a:xfrm>
            <a:off x="1850093" y="4985588"/>
            <a:ext cx="717125" cy="268205"/>
          </a:xfrm>
          <a:prstGeom prst="rect">
            <a:avLst/>
          </a:prstGeom>
          <a:noFill/>
          <a:ln>
            <a:noFill/>
          </a:ln>
        </p:spPr>
      </p:pic>
      <p:pic>
        <p:nvPicPr>
          <p:cNvPr id="235" name="Google Shape;235;p11"/>
          <p:cNvPicPr preferRelativeResize="0"/>
          <p:nvPr/>
        </p:nvPicPr>
        <p:blipFill>
          <a:blip r:embed="rId5">
            <a:alphaModFix/>
          </a:blip>
          <a:stretch>
            <a:fillRect/>
          </a:stretch>
        </p:blipFill>
        <p:spPr>
          <a:xfrm>
            <a:off x="4274604" y="4889514"/>
            <a:ext cx="327521" cy="394350"/>
          </a:xfrm>
          <a:prstGeom prst="rect">
            <a:avLst/>
          </a:prstGeom>
          <a:noFill/>
          <a:ln>
            <a:noFill/>
          </a:ln>
        </p:spPr>
      </p:pic>
      <p:pic>
        <p:nvPicPr>
          <p:cNvPr id="236" name="Google Shape;236;p11"/>
          <p:cNvPicPr preferRelativeResize="0"/>
          <p:nvPr/>
        </p:nvPicPr>
        <p:blipFill>
          <a:blip r:embed="rId6">
            <a:alphaModFix/>
          </a:blip>
          <a:stretch>
            <a:fillRect/>
          </a:stretch>
        </p:blipFill>
        <p:spPr>
          <a:xfrm>
            <a:off x="7131974" y="4899551"/>
            <a:ext cx="982080" cy="312300"/>
          </a:xfrm>
          <a:prstGeom prst="rect">
            <a:avLst/>
          </a:prstGeom>
          <a:noFill/>
          <a:ln>
            <a:noFill/>
          </a:ln>
        </p:spPr>
      </p:pic>
      <p:pic>
        <p:nvPicPr>
          <p:cNvPr id="237" name="Google Shape;237;p11"/>
          <p:cNvPicPr preferRelativeResize="0"/>
          <p:nvPr/>
        </p:nvPicPr>
        <p:blipFill>
          <a:blip r:embed="rId7">
            <a:alphaModFix/>
          </a:blip>
          <a:stretch>
            <a:fillRect/>
          </a:stretch>
        </p:blipFill>
        <p:spPr>
          <a:xfrm>
            <a:off x="5224900" y="4946158"/>
            <a:ext cx="1284300" cy="3185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2"/>
        <p:cNvGrpSpPr/>
        <p:nvPr/>
      </p:nvGrpSpPr>
      <p:grpSpPr>
        <a:xfrm>
          <a:off x="0" y="0"/>
          <a:ext cx="0" cy="0"/>
          <a:chOff x="0" y="0"/>
          <a:chExt cx="0" cy="0"/>
        </a:xfrm>
      </p:grpSpPr>
      <p:sp>
        <p:nvSpPr>
          <p:cNvPr id="243" name="Google Shape;243;p12"/>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08 — RESULTS &amp; ANALYSIS</a:t>
            </a:r>
            <a:endParaRPr sz="1875">
              <a:solidFill>
                <a:schemeClr val="dk1"/>
              </a:solidFill>
              <a:latin typeface="Calibri"/>
              <a:ea typeface="Calibri"/>
              <a:cs typeface="Calibri"/>
              <a:sym typeface="Calibri"/>
            </a:endParaRPr>
          </a:p>
        </p:txBody>
      </p:sp>
      <p:sp>
        <p:nvSpPr>
          <p:cNvPr id="244" name="Google Shape;244;p12"/>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Results &amp; Analysis</a:t>
            </a:r>
            <a:endParaRPr sz="4500">
              <a:solidFill>
                <a:schemeClr val="dk1"/>
              </a:solidFill>
              <a:latin typeface="Calibri"/>
              <a:ea typeface="Calibri"/>
              <a:cs typeface="Calibri"/>
              <a:sym typeface="Calibri"/>
            </a:endParaRPr>
          </a:p>
        </p:txBody>
      </p:sp>
      <p:sp>
        <p:nvSpPr>
          <p:cNvPr id="245" name="Google Shape;245;p12"/>
          <p:cNvSpPr/>
          <p:nvPr/>
        </p:nvSpPr>
        <p:spPr>
          <a:xfrm>
            <a:off x="6234351" y="2339340"/>
            <a:ext cx="9525" cy="1146810"/>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2"/>
          <p:cNvSpPr/>
          <p:nvPr/>
        </p:nvSpPr>
        <p:spPr>
          <a:xfrm>
            <a:off x="1047750" y="2339340"/>
            <a:ext cx="5705261" cy="8534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5550"/>
              <a:buFont typeface="Arial"/>
              <a:buNone/>
            </a:pPr>
            <a:r>
              <a:rPr lang="en-US" sz="5550" b="1">
                <a:solidFill>
                  <a:srgbClr val="1200FF"/>
                </a:solidFill>
                <a:latin typeface="Arial"/>
                <a:ea typeface="Arial"/>
                <a:cs typeface="Arial"/>
                <a:sym typeface="Arial"/>
              </a:rPr>
              <a:t>[</a:t>
            </a:r>
            <a:r>
              <a:rPr lang="en-US" sz="5550" b="1">
                <a:solidFill>
                  <a:srgbClr val="1200FF"/>
                </a:solidFill>
              </a:rPr>
              <a:t>6-15sec</a:t>
            </a:r>
            <a:r>
              <a:rPr lang="en-US" sz="5550" b="1">
                <a:solidFill>
                  <a:srgbClr val="1200FF"/>
                </a:solidFill>
                <a:latin typeface="Arial"/>
                <a:ea typeface="Arial"/>
                <a:cs typeface="Arial"/>
                <a:sym typeface="Arial"/>
              </a:rPr>
              <a:t>]</a:t>
            </a:r>
            <a:endParaRPr sz="5550">
              <a:solidFill>
                <a:schemeClr val="dk1"/>
              </a:solidFill>
              <a:latin typeface="Calibri"/>
              <a:ea typeface="Calibri"/>
              <a:cs typeface="Calibri"/>
              <a:sym typeface="Calibri"/>
            </a:endParaRPr>
          </a:p>
        </p:txBody>
      </p:sp>
      <p:sp>
        <p:nvSpPr>
          <p:cNvPr id="247" name="Google Shape;247;p12"/>
          <p:cNvSpPr/>
          <p:nvPr/>
        </p:nvSpPr>
        <p:spPr>
          <a:xfrm>
            <a:off x="1047750" y="3211830"/>
            <a:ext cx="5705261"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a:solidFill>
                  <a:srgbClr val="4A4A5C"/>
                </a:solidFill>
              </a:rPr>
              <a:t>End to end latency</a:t>
            </a:r>
            <a:endParaRPr sz="1875">
              <a:solidFill>
                <a:schemeClr val="dk1"/>
              </a:solidFill>
              <a:latin typeface="Calibri"/>
              <a:ea typeface="Calibri"/>
              <a:cs typeface="Calibri"/>
              <a:sym typeface="Calibri"/>
            </a:endParaRPr>
          </a:p>
        </p:txBody>
      </p:sp>
      <p:sp>
        <p:nvSpPr>
          <p:cNvPr id="248" name="Google Shape;248;p12"/>
          <p:cNvSpPr/>
          <p:nvPr/>
        </p:nvSpPr>
        <p:spPr>
          <a:xfrm>
            <a:off x="11733491" y="2339340"/>
            <a:ext cx="9525" cy="1146810"/>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2"/>
          <p:cNvSpPr/>
          <p:nvPr/>
        </p:nvSpPr>
        <p:spPr>
          <a:xfrm>
            <a:off x="6546771" y="2339340"/>
            <a:ext cx="5705392" cy="8534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5550"/>
              <a:buFont typeface="Arial"/>
              <a:buNone/>
            </a:pPr>
            <a:r>
              <a:rPr lang="en-US" sz="5550" b="1">
                <a:solidFill>
                  <a:srgbClr val="1200FF"/>
                </a:solidFill>
              </a:rPr>
              <a:t>0.86 / 1.0</a:t>
            </a:r>
            <a:endParaRPr sz="5550">
              <a:solidFill>
                <a:schemeClr val="dk1"/>
              </a:solidFill>
              <a:latin typeface="Calibri"/>
              <a:ea typeface="Calibri"/>
              <a:cs typeface="Calibri"/>
              <a:sym typeface="Calibri"/>
            </a:endParaRPr>
          </a:p>
        </p:txBody>
      </p:sp>
      <p:sp>
        <p:nvSpPr>
          <p:cNvPr id="250" name="Google Shape;250;p12"/>
          <p:cNvSpPr/>
          <p:nvPr/>
        </p:nvSpPr>
        <p:spPr>
          <a:xfrm>
            <a:off x="6546771" y="3211830"/>
            <a:ext cx="5705392"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a:solidFill>
                  <a:srgbClr val="4A4A5C"/>
                </a:solidFill>
              </a:rPr>
              <a:t>Structural Similarity</a:t>
            </a:r>
            <a:endParaRPr sz="1875">
              <a:solidFill>
                <a:schemeClr val="dk1"/>
              </a:solidFill>
              <a:latin typeface="Calibri"/>
              <a:ea typeface="Calibri"/>
              <a:cs typeface="Calibri"/>
              <a:sym typeface="Calibri"/>
            </a:endParaRPr>
          </a:p>
        </p:txBody>
      </p:sp>
      <p:sp>
        <p:nvSpPr>
          <p:cNvPr id="251" name="Google Shape;251;p12"/>
          <p:cNvSpPr/>
          <p:nvPr/>
        </p:nvSpPr>
        <p:spPr>
          <a:xfrm>
            <a:off x="12045910" y="2339340"/>
            <a:ext cx="5713774" cy="8534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5550"/>
              <a:buFont typeface="Arial"/>
              <a:buNone/>
            </a:pPr>
            <a:r>
              <a:rPr lang="en-US" sz="5550" b="1">
                <a:solidFill>
                  <a:srgbClr val="1200FF"/>
                </a:solidFill>
              </a:rPr>
              <a:t>50+</a:t>
            </a:r>
            <a:endParaRPr sz="5550">
              <a:solidFill>
                <a:schemeClr val="dk1"/>
              </a:solidFill>
              <a:latin typeface="Calibri"/>
              <a:ea typeface="Calibri"/>
              <a:cs typeface="Calibri"/>
              <a:sym typeface="Calibri"/>
            </a:endParaRPr>
          </a:p>
        </p:txBody>
      </p:sp>
      <p:sp>
        <p:nvSpPr>
          <p:cNvPr id="252" name="Google Shape;252;p12"/>
          <p:cNvSpPr/>
          <p:nvPr/>
        </p:nvSpPr>
        <p:spPr>
          <a:xfrm>
            <a:off x="12045910" y="3211830"/>
            <a:ext cx="5713774"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a:solidFill>
                  <a:srgbClr val="4A4A5C"/>
                </a:solidFill>
              </a:rPr>
              <a:t>Concurrency</a:t>
            </a:r>
            <a:endParaRPr sz="1875">
              <a:solidFill>
                <a:schemeClr val="dk1"/>
              </a:solidFill>
              <a:latin typeface="Calibri"/>
              <a:ea typeface="Calibri"/>
              <a:cs typeface="Calibri"/>
              <a:sym typeface="Calibri"/>
            </a:endParaRPr>
          </a:p>
        </p:txBody>
      </p:sp>
      <p:sp>
        <p:nvSpPr>
          <p:cNvPr id="253" name="Google Shape;253;p12"/>
          <p:cNvSpPr/>
          <p:nvPr/>
        </p:nvSpPr>
        <p:spPr>
          <a:xfrm>
            <a:off x="1047750" y="3867150"/>
            <a:ext cx="16192500" cy="5173980"/>
          </a:xfrm>
          <a:prstGeom prst="roundRect">
            <a:avLst>
              <a:gd name="adj" fmla="val 3314"/>
            </a:avLst>
          </a:prstGeom>
          <a:solidFill>
            <a:srgbClr val="F4F5FC"/>
          </a:solidFill>
          <a:ln w="9525" cap="flat" cmpd="sng">
            <a:solidFill>
              <a:srgbClr val="E1E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2"/>
          <p:cNvSpPr/>
          <p:nvPr/>
        </p:nvSpPr>
        <p:spPr>
          <a:xfrm>
            <a:off x="7358182" y="6332220"/>
            <a:ext cx="3928801"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Courier New"/>
              <a:buNone/>
            </a:pPr>
            <a:endParaRPr sz="1650">
              <a:solidFill>
                <a:schemeClr val="dk1"/>
              </a:solidFill>
              <a:latin typeface="Calibri"/>
              <a:ea typeface="Calibri"/>
              <a:cs typeface="Calibri"/>
              <a:sym typeface="Calibri"/>
            </a:endParaRPr>
          </a:p>
        </p:txBody>
      </p:sp>
      <p:sp>
        <p:nvSpPr>
          <p:cNvPr id="255" name="Google Shape;255;p12"/>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6" name="Google Shape;256;p12"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257" name="Google Shape;257;p12"/>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258" name="Google Shape;258;p12"/>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10 / 15</a:t>
            </a:r>
            <a:endParaRPr sz="1650">
              <a:solidFill>
                <a:schemeClr val="dk1"/>
              </a:solidFill>
              <a:latin typeface="Calibri"/>
              <a:ea typeface="Calibri"/>
              <a:cs typeface="Calibri"/>
              <a:sym typeface="Calibri"/>
            </a:endParaRPr>
          </a:p>
        </p:txBody>
      </p:sp>
      <p:pic>
        <p:nvPicPr>
          <p:cNvPr id="259" name="Google Shape;259;p12"/>
          <p:cNvPicPr preferRelativeResize="0"/>
          <p:nvPr/>
        </p:nvPicPr>
        <p:blipFill>
          <a:blip r:embed="rId4">
            <a:alphaModFix/>
          </a:blip>
          <a:stretch>
            <a:fillRect/>
          </a:stretch>
        </p:blipFill>
        <p:spPr>
          <a:xfrm>
            <a:off x="8280480" y="3994280"/>
            <a:ext cx="8834575" cy="4926975"/>
          </a:xfrm>
          <a:prstGeom prst="rect">
            <a:avLst/>
          </a:prstGeom>
          <a:solidFill>
            <a:srgbClr val="F4F5FC"/>
          </a:solidFill>
          <a:ln w="9525" cap="flat" cmpd="sng">
            <a:solidFill>
              <a:srgbClr val="E1E3F0"/>
            </a:solidFill>
            <a:prstDash val="solid"/>
            <a:round/>
            <a:headEnd type="none" w="sm" len="sm"/>
            <a:tailEnd type="none" w="sm" len="sm"/>
          </a:ln>
        </p:spPr>
      </p:pic>
      <p:pic>
        <p:nvPicPr>
          <p:cNvPr id="260" name="Google Shape;260;p12"/>
          <p:cNvPicPr preferRelativeResize="0"/>
          <p:nvPr/>
        </p:nvPicPr>
        <p:blipFill>
          <a:blip r:embed="rId5">
            <a:alphaModFix/>
          </a:blip>
          <a:stretch>
            <a:fillRect/>
          </a:stretch>
        </p:blipFill>
        <p:spPr>
          <a:xfrm>
            <a:off x="1347850" y="4418438"/>
            <a:ext cx="7364400" cy="3964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5"/>
        <p:cNvGrpSpPr/>
        <p:nvPr/>
      </p:nvGrpSpPr>
      <p:grpSpPr>
        <a:xfrm>
          <a:off x="0" y="0"/>
          <a:ext cx="0" cy="0"/>
          <a:chOff x="0" y="0"/>
          <a:chExt cx="0" cy="0"/>
        </a:xfrm>
      </p:grpSpPr>
      <p:sp>
        <p:nvSpPr>
          <p:cNvPr id="266" name="Google Shape;266;p13"/>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09 — COMPARISON &amp; DISCUSSION</a:t>
            </a:r>
            <a:endParaRPr sz="1875">
              <a:solidFill>
                <a:schemeClr val="dk1"/>
              </a:solidFill>
              <a:latin typeface="Calibri"/>
              <a:ea typeface="Calibri"/>
              <a:cs typeface="Calibri"/>
              <a:sym typeface="Calibri"/>
            </a:endParaRPr>
          </a:p>
        </p:txBody>
      </p:sp>
      <p:sp>
        <p:nvSpPr>
          <p:cNvPr id="267" name="Google Shape;267;p13"/>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How It Compares</a:t>
            </a:r>
            <a:endParaRPr sz="4500">
              <a:solidFill>
                <a:schemeClr val="dk1"/>
              </a:solidFill>
              <a:latin typeface="Calibri"/>
              <a:ea typeface="Calibri"/>
              <a:cs typeface="Calibri"/>
              <a:sym typeface="Calibri"/>
            </a:endParaRPr>
          </a:p>
        </p:txBody>
      </p:sp>
      <p:sp>
        <p:nvSpPr>
          <p:cNvPr id="268" name="Google Shape;268;p13"/>
          <p:cNvSpPr/>
          <p:nvPr/>
        </p:nvSpPr>
        <p:spPr>
          <a:xfrm>
            <a:off x="1047750" y="4720590"/>
            <a:ext cx="16192500" cy="15240"/>
          </a:xfrm>
          <a:prstGeom prst="rect">
            <a:avLst/>
          </a:prstGeom>
          <a:solidFill>
            <a:srgbClr val="101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p:nvPr/>
        </p:nvSpPr>
        <p:spPr>
          <a:xfrm>
            <a:off x="1047750" y="4274820"/>
            <a:ext cx="566728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b="1">
                <a:solidFill>
                  <a:srgbClr val="4A4A5C"/>
                </a:solidFill>
                <a:latin typeface="Arial"/>
                <a:ea typeface="Arial"/>
                <a:cs typeface="Arial"/>
                <a:sym typeface="Arial"/>
              </a:rPr>
              <a:t>METHOD</a:t>
            </a:r>
            <a:endParaRPr sz="1875">
              <a:solidFill>
                <a:schemeClr val="dk1"/>
              </a:solidFill>
              <a:latin typeface="Calibri"/>
              <a:ea typeface="Calibri"/>
              <a:cs typeface="Calibri"/>
              <a:sym typeface="Calibri"/>
            </a:endParaRPr>
          </a:p>
        </p:txBody>
      </p:sp>
      <p:sp>
        <p:nvSpPr>
          <p:cNvPr id="270" name="Google Shape;270;p13"/>
          <p:cNvSpPr/>
          <p:nvPr/>
        </p:nvSpPr>
        <p:spPr>
          <a:xfrm>
            <a:off x="6015818" y="4274820"/>
            <a:ext cx="4048113" cy="31242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1875"/>
              <a:buFont typeface="Arial"/>
              <a:buNone/>
            </a:pPr>
            <a:r>
              <a:rPr lang="en-US" sz="1875" b="1">
                <a:solidFill>
                  <a:srgbClr val="4A4A5C"/>
                </a:solidFill>
              </a:rPr>
              <a:t>VISUAL QUALITY</a:t>
            </a:r>
            <a:endParaRPr sz="1875">
              <a:solidFill>
                <a:schemeClr val="dk1"/>
              </a:solidFill>
              <a:latin typeface="Calibri"/>
              <a:ea typeface="Calibri"/>
              <a:cs typeface="Calibri"/>
              <a:sym typeface="Calibri"/>
            </a:endParaRPr>
          </a:p>
        </p:txBody>
      </p:sp>
      <p:sp>
        <p:nvSpPr>
          <p:cNvPr id="271" name="Google Shape;271;p13"/>
          <p:cNvSpPr/>
          <p:nvPr/>
        </p:nvSpPr>
        <p:spPr>
          <a:xfrm>
            <a:off x="9695921" y="4274820"/>
            <a:ext cx="4048113" cy="31242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1875"/>
              <a:buFont typeface="Arial"/>
              <a:buNone/>
            </a:pPr>
            <a:r>
              <a:rPr lang="en-US" sz="1875" b="1">
                <a:solidFill>
                  <a:srgbClr val="4A4A5C"/>
                </a:solidFill>
              </a:rPr>
              <a:t>INFERENCE TIME</a:t>
            </a:r>
            <a:endParaRPr sz="1875">
              <a:solidFill>
                <a:schemeClr val="dk1"/>
              </a:solidFill>
              <a:latin typeface="Calibri"/>
              <a:ea typeface="Calibri"/>
              <a:cs typeface="Calibri"/>
              <a:sym typeface="Calibri"/>
            </a:endParaRPr>
          </a:p>
        </p:txBody>
      </p:sp>
      <p:sp>
        <p:nvSpPr>
          <p:cNvPr id="272" name="Google Shape;272;p13"/>
          <p:cNvSpPr/>
          <p:nvPr/>
        </p:nvSpPr>
        <p:spPr>
          <a:xfrm>
            <a:off x="13376023" y="4274820"/>
            <a:ext cx="4048113" cy="31242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1875"/>
              <a:buFont typeface="Arial"/>
              <a:buNone/>
            </a:pPr>
            <a:r>
              <a:rPr lang="en-US" sz="1875" b="1">
                <a:solidFill>
                  <a:srgbClr val="4A4A5C"/>
                </a:solidFill>
              </a:rPr>
              <a:t>FEASIBILITY</a:t>
            </a:r>
            <a:endParaRPr sz="1875">
              <a:solidFill>
                <a:schemeClr val="dk1"/>
              </a:solidFill>
              <a:latin typeface="Calibri"/>
              <a:ea typeface="Calibri"/>
              <a:cs typeface="Calibri"/>
              <a:sym typeface="Calibri"/>
            </a:endParaRPr>
          </a:p>
        </p:txBody>
      </p:sp>
      <p:sp>
        <p:nvSpPr>
          <p:cNvPr id="273" name="Google Shape;273;p13"/>
          <p:cNvSpPr/>
          <p:nvPr/>
        </p:nvSpPr>
        <p:spPr>
          <a:xfrm>
            <a:off x="1047750" y="552069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3"/>
          <p:cNvSpPr/>
          <p:nvPr/>
        </p:nvSpPr>
        <p:spPr>
          <a:xfrm>
            <a:off x="1047750" y="4964430"/>
            <a:ext cx="566728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a:solidFill>
                  <a:srgbClr val="10101B"/>
                </a:solidFill>
              </a:rPr>
              <a:t>VITON (GAN)</a:t>
            </a:r>
            <a:endParaRPr sz="2250">
              <a:solidFill>
                <a:schemeClr val="dk1"/>
              </a:solidFill>
              <a:latin typeface="Calibri"/>
              <a:ea typeface="Calibri"/>
              <a:cs typeface="Calibri"/>
              <a:sym typeface="Calibri"/>
            </a:endParaRPr>
          </a:p>
        </p:txBody>
      </p:sp>
      <p:sp>
        <p:nvSpPr>
          <p:cNvPr id="275" name="Google Shape;275;p13"/>
          <p:cNvSpPr/>
          <p:nvPr/>
        </p:nvSpPr>
        <p:spPr>
          <a:xfrm>
            <a:off x="6015818" y="4964430"/>
            <a:ext cx="4048113" cy="3657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Low</a:t>
            </a:r>
            <a:endParaRPr sz="2250">
              <a:solidFill>
                <a:schemeClr val="dk1"/>
              </a:solidFill>
              <a:latin typeface="Calibri"/>
              <a:ea typeface="Calibri"/>
              <a:cs typeface="Calibri"/>
              <a:sym typeface="Calibri"/>
            </a:endParaRPr>
          </a:p>
        </p:txBody>
      </p:sp>
      <p:sp>
        <p:nvSpPr>
          <p:cNvPr id="276" name="Google Shape;276;p13"/>
          <p:cNvSpPr/>
          <p:nvPr/>
        </p:nvSpPr>
        <p:spPr>
          <a:xfrm>
            <a:off x="9695921" y="4964430"/>
            <a:ext cx="4048113" cy="3657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50-150s</a:t>
            </a:r>
            <a:endParaRPr sz="2250">
              <a:solidFill>
                <a:schemeClr val="dk1"/>
              </a:solidFill>
              <a:latin typeface="Calibri"/>
              <a:ea typeface="Calibri"/>
              <a:cs typeface="Calibri"/>
              <a:sym typeface="Calibri"/>
            </a:endParaRPr>
          </a:p>
        </p:txBody>
      </p:sp>
      <p:sp>
        <p:nvSpPr>
          <p:cNvPr id="277" name="Google Shape;277;p13"/>
          <p:cNvSpPr/>
          <p:nvPr/>
        </p:nvSpPr>
        <p:spPr>
          <a:xfrm>
            <a:off x="13376023" y="4964430"/>
            <a:ext cx="4048113" cy="3657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High (but outdated quality)</a:t>
            </a:r>
            <a:endParaRPr sz="2250">
              <a:solidFill>
                <a:schemeClr val="dk1"/>
              </a:solidFill>
              <a:latin typeface="Calibri"/>
              <a:ea typeface="Calibri"/>
              <a:cs typeface="Calibri"/>
              <a:sym typeface="Calibri"/>
            </a:endParaRPr>
          </a:p>
        </p:txBody>
      </p:sp>
      <p:sp>
        <p:nvSpPr>
          <p:cNvPr id="278" name="Google Shape;278;p13"/>
          <p:cNvSpPr/>
          <p:nvPr/>
        </p:nvSpPr>
        <p:spPr>
          <a:xfrm>
            <a:off x="1047750" y="6405689"/>
            <a:ext cx="16192500" cy="9600"/>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3"/>
          <p:cNvSpPr/>
          <p:nvPr/>
        </p:nvSpPr>
        <p:spPr>
          <a:xfrm>
            <a:off x="1047750" y="5756910"/>
            <a:ext cx="566728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a:solidFill>
                  <a:srgbClr val="10101B"/>
                </a:solidFill>
              </a:rPr>
              <a:t>VITON-HD (GAN)</a:t>
            </a:r>
            <a:endParaRPr sz="2250">
              <a:solidFill>
                <a:schemeClr val="dk1"/>
              </a:solidFill>
              <a:latin typeface="Calibri"/>
              <a:ea typeface="Calibri"/>
              <a:cs typeface="Calibri"/>
              <a:sym typeface="Calibri"/>
            </a:endParaRPr>
          </a:p>
        </p:txBody>
      </p:sp>
      <p:sp>
        <p:nvSpPr>
          <p:cNvPr id="280" name="Google Shape;280;p13"/>
          <p:cNvSpPr/>
          <p:nvPr/>
        </p:nvSpPr>
        <p:spPr>
          <a:xfrm>
            <a:off x="6015818" y="5756910"/>
            <a:ext cx="4048113" cy="3657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Moderate</a:t>
            </a:r>
            <a:endParaRPr sz="2250">
              <a:solidFill>
                <a:schemeClr val="dk1"/>
              </a:solidFill>
              <a:latin typeface="Calibri"/>
              <a:ea typeface="Calibri"/>
              <a:cs typeface="Calibri"/>
              <a:sym typeface="Calibri"/>
            </a:endParaRPr>
          </a:p>
        </p:txBody>
      </p:sp>
      <p:sp>
        <p:nvSpPr>
          <p:cNvPr id="281" name="Google Shape;281;p13"/>
          <p:cNvSpPr/>
          <p:nvPr/>
        </p:nvSpPr>
        <p:spPr>
          <a:xfrm>
            <a:off x="9695921" y="5756910"/>
            <a:ext cx="4048113" cy="3657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10-20s</a:t>
            </a:r>
            <a:endParaRPr sz="2250">
              <a:solidFill>
                <a:schemeClr val="dk1"/>
              </a:solidFill>
              <a:latin typeface="Calibri"/>
              <a:ea typeface="Calibri"/>
              <a:cs typeface="Calibri"/>
              <a:sym typeface="Calibri"/>
            </a:endParaRPr>
          </a:p>
        </p:txBody>
      </p:sp>
      <p:sp>
        <p:nvSpPr>
          <p:cNvPr id="282" name="Google Shape;282;p13"/>
          <p:cNvSpPr/>
          <p:nvPr/>
        </p:nvSpPr>
        <p:spPr>
          <a:xfrm>
            <a:off x="13376023" y="5756910"/>
            <a:ext cx="4048113" cy="3657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Medium</a:t>
            </a:r>
            <a:endParaRPr sz="2250">
              <a:solidFill>
                <a:schemeClr val="dk1"/>
              </a:solidFill>
              <a:latin typeface="Calibri"/>
              <a:ea typeface="Calibri"/>
              <a:cs typeface="Calibri"/>
              <a:sym typeface="Calibri"/>
            </a:endParaRPr>
          </a:p>
        </p:txBody>
      </p:sp>
      <p:sp>
        <p:nvSpPr>
          <p:cNvPr id="283" name="Google Shape;283;p13"/>
          <p:cNvSpPr/>
          <p:nvPr/>
        </p:nvSpPr>
        <p:spPr>
          <a:xfrm>
            <a:off x="1047750" y="7107198"/>
            <a:ext cx="16192500" cy="1184400"/>
          </a:xfrm>
          <a:prstGeom prst="roundRect">
            <a:avLst>
              <a:gd name="adj" fmla="val 14563"/>
            </a:avLst>
          </a:prstGeom>
          <a:solidFill>
            <a:srgbClr val="F4F5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3"/>
          <p:cNvSpPr/>
          <p:nvPr/>
        </p:nvSpPr>
        <p:spPr>
          <a:xfrm>
            <a:off x="1238250" y="7452232"/>
            <a:ext cx="5476800" cy="5520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2250"/>
              <a:buFont typeface="Arial"/>
              <a:buNone/>
            </a:pPr>
            <a:r>
              <a:rPr lang="en-US" sz="2250" b="1">
                <a:solidFill>
                  <a:srgbClr val="1200FF"/>
                </a:solidFill>
              </a:rPr>
              <a:t>StyleMirror (Qwen-Image-Edit)</a:t>
            </a:r>
            <a:endParaRPr sz="2250">
              <a:solidFill>
                <a:schemeClr val="dk1"/>
              </a:solidFill>
              <a:latin typeface="Calibri"/>
              <a:ea typeface="Calibri"/>
              <a:cs typeface="Calibri"/>
              <a:sym typeface="Calibri"/>
            </a:endParaRPr>
          </a:p>
        </p:txBody>
      </p:sp>
      <p:sp>
        <p:nvSpPr>
          <p:cNvPr id="285" name="Google Shape;285;p13"/>
          <p:cNvSpPr/>
          <p:nvPr/>
        </p:nvSpPr>
        <p:spPr>
          <a:xfrm>
            <a:off x="6015818" y="7452232"/>
            <a:ext cx="4048200" cy="5520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1200FF"/>
              </a:buClr>
              <a:buSzPts val="2250"/>
              <a:buFont typeface="Arial"/>
              <a:buNone/>
            </a:pPr>
            <a:r>
              <a:rPr lang="en-US" sz="2250" b="1">
                <a:solidFill>
                  <a:srgbClr val="1200FF"/>
                </a:solidFill>
              </a:rPr>
              <a:t>High</a:t>
            </a:r>
            <a:endParaRPr sz="2250">
              <a:solidFill>
                <a:schemeClr val="dk1"/>
              </a:solidFill>
              <a:latin typeface="Calibri"/>
              <a:ea typeface="Calibri"/>
              <a:cs typeface="Calibri"/>
              <a:sym typeface="Calibri"/>
            </a:endParaRPr>
          </a:p>
        </p:txBody>
      </p:sp>
      <p:sp>
        <p:nvSpPr>
          <p:cNvPr id="286" name="Google Shape;286;p13"/>
          <p:cNvSpPr/>
          <p:nvPr/>
        </p:nvSpPr>
        <p:spPr>
          <a:xfrm>
            <a:off x="9695921" y="7452232"/>
            <a:ext cx="4048200" cy="5520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1200FF"/>
              </a:buClr>
              <a:buSzPts val="2250"/>
              <a:buFont typeface="Arial"/>
              <a:buNone/>
            </a:pPr>
            <a:r>
              <a:rPr lang="en-US" sz="2250" b="1">
                <a:solidFill>
                  <a:srgbClr val="1200FF"/>
                </a:solidFill>
              </a:rPr>
              <a:t>5-15s</a:t>
            </a:r>
            <a:endParaRPr sz="2250">
              <a:solidFill>
                <a:schemeClr val="dk1"/>
              </a:solidFill>
              <a:latin typeface="Calibri"/>
              <a:ea typeface="Calibri"/>
              <a:cs typeface="Calibri"/>
              <a:sym typeface="Calibri"/>
            </a:endParaRPr>
          </a:p>
        </p:txBody>
      </p:sp>
      <p:sp>
        <p:nvSpPr>
          <p:cNvPr id="287" name="Google Shape;287;p13"/>
          <p:cNvSpPr/>
          <p:nvPr/>
        </p:nvSpPr>
        <p:spPr>
          <a:xfrm>
            <a:off x="13376023" y="7452232"/>
            <a:ext cx="3857700" cy="5520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1200FF"/>
              </a:buClr>
              <a:buSzPts val="2250"/>
              <a:buFont typeface="Arial"/>
              <a:buNone/>
            </a:pPr>
            <a:r>
              <a:rPr lang="en-US" sz="2250" b="1">
                <a:solidFill>
                  <a:srgbClr val="1200FF"/>
                </a:solidFill>
              </a:rPr>
              <a:t>High (Optimized async architecture)</a:t>
            </a:r>
            <a:endParaRPr sz="2250">
              <a:solidFill>
                <a:schemeClr val="dk1"/>
              </a:solidFill>
              <a:latin typeface="Calibri"/>
              <a:ea typeface="Calibri"/>
              <a:cs typeface="Calibri"/>
              <a:sym typeface="Calibri"/>
            </a:endParaRPr>
          </a:p>
        </p:txBody>
      </p:sp>
      <p:sp>
        <p:nvSpPr>
          <p:cNvPr id="288" name="Google Shape;288;p13"/>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9" name="Google Shape;289;p13"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290" name="Google Shape;290;p13"/>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291" name="Google Shape;291;p13"/>
          <p:cNvSpPr/>
          <p:nvPr/>
        </p:nvSpPr>
        <p:spPr>
          <a:xfrm>
            <a:off x="16614934" y="9345930"/>
            <a:ext cx="701516"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11 / 15</a:t>
            </a:r>
            <a:endParaRPr sz="1650">
              <a:solidFill>
                <a:schemeClr val="dk1"/>
              </a:solidFill>
              <a:latin typeface="Calibri"/>
              <a:ea typeface="Calibri"/>
              <a:cs typeface="Calibri"/>
              <a:sym typeface="Calibri"/>
            </a:endParaRPr>
          </a:p>
        </p:txBody>
      </p:sp>
      <p:sp>
        <p:nvSpPr>
          <p:cNvPr id="292" name="Google Shape;292;p13"/>
          <p:cNvSpPr/>
          <p:nvPr/>
        </p:nvSpPr>
        <p:spPr>
          <a:xfrm>
            <a:off x="1045951" y="6464426"/>
            <a:ext cx="5667300" cy="365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2250"/>
              <a:buFont typeface="Arial"/>
              <a:buNone/>
            </a:pPr>
            <a:r>
              <a:rPr lang="en-US" sz="2250">
                <a:solidFill>
                  <a:srgbClr val="10101B"/>
                </a:solidFill>
              </a:rPr>
              <a:t>TryOnDiffusion</a:t>
            </a:r>
            <a:endParaRPr sz="2250">
              <a:solidFill>
                <a:schemeClr val="dk1"/>
              </a:solidFill>
              <a:latin typeface="Calibri"/>
              <a:ea typeface="Calibri"/>
              <a:cs typeface="Calibri"/>
              <a:sym typeface="Calibri"/>
            </a:endParaRPr>
          </a:p>
        </p:txBody>
      </p:sp>
      <p:sp>
        <p:nvSpPr>
          <p:cNvPr id="293" name="Google Shape;293;p13"/>
          <p:cNvSpPr/>
          <p:nvPr/>
        </p:nvSpPr>
        <p:spPr>
          <a:xfrm>
            <a:off x="6014019" y="6464426"/>
            <a:ext cx="4048200" cy="3657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High</a:t>
            </a:r>
            <a:endParaRPr sz="2250">
              <a:solidFill>
                <a:schemeClr val="dk1"/>
              </a:solidFill>
              <a:latin typeface="Calibri"/>
              <a:ea typeface="Calibri"/>
              <a:cs typeface="Calibri"/>
              <a:sym typeface="Calibri"/>
            </a:endParaRPr>
          </a:p>
        </p:txBody>
      </p:sp>
      <p:sp>
        <p:nvSpPr>
          <p:cNvPr id="294" name="Google Shape;294;p13"/>
          <p:cNvSpPr/>
          <p:nvPr/>
        </p:nvSpPr>
        <p:spPr>
          <a:xfrm>
            <a:off x="9694122" y="6464426"/>
            <a:ext cx="4048200" cy="3657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15-30s</a:t>
            </a:r>
            <a:endParaRPr sz="2250">
              <a:solidFill>
                <a:schemeClr val="dk1"/>
              </a:solidFill>
              <a:latin typeface="Calibri"/>
              <a:ea typeface="Calibri"/>
              <a:cs typeface="Calibri"/>
              <a:sym typeface="Calibri"/>
            </a:endParaRPr>
          </a:p>
        </p:txBody>
      </p:sp>
      <p:sp>
        <p:nvSpPr>
          <p:cNvPr id="295" name="Google Shape;295;p13"/>
          <p:cNvSpPr/>
          <p:nvPr/>
        </p:nvSpPr>
        <p:spPr>
          <a:xfrm>
            <a:off x="13374224" y="6464426"/>
            <a:ext cx="4048200" cy="3657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4A4A5C"/>
              </a:buClr>
              <a:buSzPts val="2250"/>
              <a:buFont typeface="Arial"/>
              <a:buNone/>
            </a:pPr>
            <a:r>
              <a:rPr lang="en-US" sz="2250">
                <a:solidFill>
                  <a:srgbClr val="4A4A5C"/>
                </a:solidFill>
              </a:rPr>
              <a:t>Low (Too slow for web)</a:t>
            </a:r>
            <a:endParaRPr sz="22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sp>
        <p:nvSpPr>
          <p:cNvPr id="301" name="Google Shape;301;p14"/>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10 — CONCLUSION &amp; FUTURE WORK</a:t>
            </a:r>
            <a:endParaRPr sz="1875">
              <a:solidFill>
                <a:schemeClr val="dk1"/>
              </a:solidFill>
              <a:latin typeface="Calibri"/>
              <a:ea typeface="Calibri"/>
              <a:cs typeface="Calibri"/>
              <a:sym typeface="Calibri"/>
            </a:endParaRPr>
          </a:p>
        </p:txBody>
      </p:sp>
      <p:sp>
        <p:nvSpPr>
          <p:cNvPr id="302" name="Google Shape;302;p14"/>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Conclusion &amp; Future Work</a:t>
            </a:r>
            <a:endParaRPr sz="4500">
              <a:solidFill>
                <a:schemeClr val="dk1"/>
              </a:solidFill>
              <a:latin typeface="Calibri"/>
              <a:ea typeface="Calibri"/>
              <a:cs typeface="Calibri"/>
              <a:sym typeface="Calibri"/>
            </a:endParaRPr>
          </a:p>
        </p:txBody>
      </p:sp>
      <p:sp>
        <p:nvSpPr>
          <p:cNvPr id="303" name="Google Shape;303;p14"/>
          <p:cNvSpPr/>
          <p:nvPr/>
        </p:nvSpPr>
        <p:spPr>
          <a:xfrm>
            <a:off x="1047750" y="2339340"/>
            <a:ext cx="8539163"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CONCLUSION</a:t>
            </a:r>
            <a:endParaRPr sz="1875">
              <a:solidFill>
                <a:schemeClr val="dk1"/>
              </a:solidFill>
              <a:latin typeface="Calibri"/>
              <a:ea typeface="Calibri"/>
              <a:cs typeface="Calibri"/>
              <a:sym typeface="Calibri"/>
            </a:endParaRPr>
          </a:p>
        </p:txBody>
      </p:sp>
      <p:sp>
        <p:nvSpPr>
          <p:cNvPr id="304" name="Google Shape;304;p14"/>
          <p:cNvSpPr/>
          <p:nvPr/>
        </p:nvSpPr>
        <p:spPr>
          <a:xfrm>
            <a:off x="1047750" y="2842260"/>
            <a:ext cx="76200" cy="428625"/>
          </a:xfrm>
          <a:prstGeom prst="roundRect">
            <a:avLst>
              <a:gd name="adj" fmla="val 50000"/>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4"/>
          <p:cNvSpPr/>
          <p:nvPr/>
        </p:nvSpPr>
        <p:spPr>
          <a:xfrm>
            <a:off x="1276350" y="2842260"/>
            <a:ext cx="4786777" cy="466725"/>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Successfully bridged the gap between heavy generative AI and practical web deployment.</a:t>
            </a:r>
            <a:endParaRPr sz="2250">
              <a:solidFill>
                <a:schemeClr val="dk1"/>
              </a:solidFill>
              <a:latin typeface="Calibri"/>
              <a:ea typeface="Calibri"/>
              <a:cs typeface="Calibri"/>
              <a:sym typeface="Calibri"/>
            </a:endParaRPr>
          </a:p>
        </p:txBody>
      </p:sp>
      <p:sp>
        <p:nvSpPr>
          <p:cNvPr id="306" name="Google Shape;306;p14"/>
          <p:cNvSpPr/>
          <p:nvPr/>
        </p:nvSpPr>
        <p:spPr>
          <a:xfrm>
            <a:off x="1047750" y="4270480"/>
            <a:ext cx="76200" cy="428700"/>
          </a:xfrm>
          <a:prstGeom prst="roundRect">
            <a:avLst>
              <a:gd name="adj" fmla="val 50000"/>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4"/>
          <p:cNvSpPr/>
          <p:nvPr/>
        </p:nvSpPr>
        <p:spPr>
          <a:xfrm>
            <a:off x="1276350" y="4270475"/>
            <a:ext cx="7143000" cy="466800"/>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Proved that a decoupled SvelteKit-Golang-PyTorch architecture can serve foundation models efficiently on standard VPS hardware.</a:t>
            </a:r>
            <a:endParaRPr sz="2250">
              <a:solidFill>
                <a:schemeClr val="dk1"/>
              </a:solidFill>
              <a:latin typeface="Calibri"/>
              <a:ea typeface="Calibri"/>
              <a:cs typeface="Calibri"/>
              <a:sym typeface="Calibri"/>
            </a:endParaRPr>
          </a:p>
        </p:txBody>
      </p:sp>
      <p:sp>
        <p:nvSpPr>
          <p:cNvPr id="308" name="Google Shape;308;p14"/>
          <p:cNvSpPr/>
          <p:nvPr/>
        </p:nvSpPr>
        <p:spPr>
          <a:xfrm>
            <a:off x="1047750" y="5729540"/>
            <a:ext cx="76200" cy="428700"/>
          </a:xfrm>
          <a:prstGeom prst="roundRect">
            <a:avLst>
              <a:gd name="adj" fmla="val 50000"/>
            </a:avLst>
          </a:prstGeom>
          <a:solidFill>
            <a:srgbClr val="120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4"/>
          <p:cNvSpPr/>
          <p:nvPr/>
        </p:nvSpPr>
        <p:spPr>
          <a:xfrm>
            <a:off x="1276350" y="5729551"/>
            <a:ext cx="6556800" cy="519600"/>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Provided a cost-effective, scalable blueprint for mid-scale e-commerce retailers to reduce return rates.</a:t>
            </a:r>
            <a:endParaRPr sz="2250">
              <a:solidFill>
                <a:schemeClr val="dk1"/>
              </a:solidFill>
              <a:latin typeface="Calibri"/>
              <a:ea typeface="Calibri"/>
              <a:cs typeface="Calibri"/>
              <a:sym typeface="Calibri"/>
            </a:endParaRPr>
          </a:p>
        </p:txBody>
      </p:sp>
      <p:sp>
        <p:nvSpPr>
          <p:cNvPr id="310" name="Google Shape;310;p14"/>
          <p:cNvSpPr/>
          <p:nvPr/>
        </p:nvSpPr>
        <p:spPr>
          <a:xfrm>
            <a:off x="9477375" y="2339340"/>
            <a:ext cx="9525" cy="6701790"/>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4"/>
          <p:cNvSpPr/>
          <p:nvPr/>
        </p:nvSpPr>
        <p:spPr>
          <a:xfrm>
            <a:off x="10151745" y="2339340"/>
            <a:ext cx="7797356"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875"/>
              <a:buFont typeface="Arial"/>
              <a:buNone/>
            </a:pPr>
            <a:r>
              <a:rPr lang="en-US" sz="1875" b="1">
                <a:solidFill>
                  <a:srgbClr val="4A4A5C"/>
                </a:solidFill>
                <a:latin typeface="Arial"/>
                <a:ea typeface="Arial"/>
                <a:cs typeface="Arial"/>
                <a:sym typeface="Arial"/>
              </a:rPr>
              <a:t>FUTURE WORK</a:t>
            </a:r>
            <a:endParaRPr sz="1875">
              <a:solidFill>
                <a:schemeClr val="dk1"/>
              </a:solidFill>
              <a:latin typeface="Calibri"/>
              <a:ea typeface="Calibri"/>
              <a:cs typeface="Calibri"/>
              <a:sym typeface="Calibri"/>
            </a:endParaRPr>
          </a:p>
        </p:txBody>
      </p:sp>
      <p:sp>
        <p:nvSpPr>
          <p:cNvPr id="312" name="Google Shape;312;p14"/>
          <p:cNvSpPr/>
          <p:nvPr/>
        </p:nvSpPr>
        <p:spPr>
          <a:xfrm>
            <a:off x="10151745" y="2842260"/>
            <a:ext cx="76200" cy="428625"/>
          </a:xfrm>
          <a:prstGeom prst="roundRect">
            <a:avLst>
              <a:gd name="adj" fmla="val 50000"/>
            </a:avLst>
          </a:prstGeom>
          <a:solidFill>
            <a:srgbClr val="4A4A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4"/>
          <p:cNvSpPr/>
          <p:nvPr/>
        </p:nvSpPr>
        <p:spPr>
          <a:xfrm>
            <a:off x="10380345" y="2842260"/>
            <a:ext cx="4874526" cy="466725"/>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Inference Optimization: Implement model quantization (TensorRT/ONNX) to reduce latency and VRAM usage.</a:t>
            </a:r>
            <a:endParaRPr sz="2250">
              <a:solidFill>
                <a:srgbClr val="10101B"/>
              </a:solidFill>
            </a:endParaRPr>
          </a:p>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Infrastruct</a:t>
            </a:r>
            <a:endParaRPr sz="2250">
              <a:solidFill>
                <a:srgbClr val="10101B"/>
              </a:solidFill>
            </a:endParaRPr>
          </a:p>
        </p:txBody>
      </p:sp>
      <p:sp>
        <p:nvSpPr>
          <p:cNvPr id="314" name="Google Shape;314;p14"/>
          <p:cNvSpPr/>
          <p:nvPr/>
        </p:nvSpPr>
        <p:spPr>
          <a:xfrm>
            <a:off x="10151745" y="4686817"/>
            <a:ext cx="76200" cy="428700"/>
          </a:xfrm>
          <a:prstGeom prst="roundRect">
            <a:avLst>
              <a:gd name="adj" fmla="val 50000"/>
            </a:avLst>
          </a:prstGeom>
          <a:solidFill>
            <a:srgbClr val="4A4A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4"/>
          <p:cNvSpPr/>
          <p:nvPr/>
        </p:nvSpPr>
        <p:spPr>
          <a:xfrm>
            <a:off x="10380345" y="4686817"/>
            <a:ext cx="4647300" cy="466800"/>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Infrastructure Scalability: Deploy AI workers on Kubernetes with GPU auto-scaling.</a:t>
            </a:r>
            <a:endParaRPr sz="2250">
              <a:solidFill>
                <a:schemeClr val="dk1"/>
              </a:solidFill>
              <a:latin typeface="Calibri"/>
              <a:ea typeface="Calibri"/>
              <a:cs typeface="Calibri"/>
              <a:sym typeface="Calibri"/>
            </a:endParaRPr>
          </a:p>
        </p:txBody>
      </p:sp>
      <p:sp>
        <p:nvSpPr>
          <p:cNvPr id="316" name="Google Shape;316;p14"/>
          <p:cNvSpPr/>
          <p:nvPr/>
        </p:nvSpPr>
        <p:spPr>
          <a:xfrm>
            <a:off x="10151745" y="6053358"/>
            <a:ext cx="76200" cy="428700"/>
          </a:xfrm>
          <a:prstGeom prst="roundRect">
            <a:avLst>
              <a:gd name="adj" fmla="val 50000"/>
            </a:avLst>
          </a:prstGeom>
          <a:solidFill>
            <a:srgbClr val="4A4A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4"/>
          <p:cNvSpPr/>
          <p:nvPr/>
        </p:nvSpPr>
        <p:spPr>
          <a:xfrm>
            <a:off x="10380345" y="6053358"/>
            <a:ext cx="5049600" cy="466800"/>
          </a:xfrm>
          <a:prstGeom prst="rect">
            <a:avLst/>
          </a:prstGeom>
          <a:noFill/>
          <a:ln>
            <a:noFill/>
          </a:ln>
        </p:spPr>
        <p:txBody>
          <a:bodyPr spcFirstLastPara="1" wrap="square" lIns="25400" tIns="25400" rIns="25400" bIns="25400" anchor="t" anchorCtr="0">
            <a:noAutofit/>
          </a:bodyPr>
          <a:lstStyle/>
          <a:p>
            <a:pPr marL="0" marR="0" lvl="0" indent="0" algn="l" rtl="0">
              <a:lnSpc>
                <a:spcPct val="130813"/>
              </a:lnSpc>
              <a:spcBef>
                <a:spcPts val="0"/>
              </a:spcBef>
              <a:spcAft>
                <a:spcPts val="0"/>
              </a:spcAft>
              <a:buClr>
                <a:srgbClr val="10101B"/>
              </a:buClr>
              <a:buSzPts val="2250"/>
              <a:buFont typeface="Arial"/>
              <a:buNone/>
            </a:pPr>
            <a:r>
              <a:rPr lang="en-US" sz="2250">
                <a:solidFill>
                  <a:srgbClr val="10101B"/>
                </a:solidFill>
              </a:rPr>
              <a:t>Infrastructure Scalability: Deploy AI workers on Kubernetes with GPU auto-scaling.</a:t>
            </a:r>
            <a:endParaRPr sz="2250">
              <a:solidFill>
                <a:schemeClr val="dk1"/>
              </a:solidFill>
              <a:latin typeface="Calibri"/>
              <a:ea typeface="Calibri"/>
              <a:cs typeface="Calibri"/>
              <a:sym typeface="Calibri"/>
            </a:endParaRPr>
          </a:p>
        </p:txBody>
      </p:sp>
      <p:sp>
        <p:nvSpPr>
          <p:cNvPr id="318" name="Google Shape;318;p14"/>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9" name="Google Shape;319;p14"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320" name="Google Shape;320;p14"/>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321" name="Google Shape;321;p14"/>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12 / 15</a:t>
            </a:r>
            <a:endParaRPr sz="16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6"/>
        <p:cNvGrpSpPr/>
        <p:nvPr/>
      </p:nvGrpSpPr>
      <p:grpSpPr>
        <a:xfrm>
          <a:off x="0" y="0"/>
          <a:ext cx="0" cy="0"/>
          <a:chOff x="0" y="0"/>
          <a:chExt cx="0" cy="0"/>
        </a:xfrm>
      </p:grpSpPr>
      <p:sp>
        <p:nvSpPr>
          <p:cNvPr id="327" name="Google Shape;327;p15"/>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11 — REFERENCES</a:t>
            </a:r>
            <a:endParaRPr sz="1875">
              <a:solidFill>
                <a:schemeClr val="dk1"/>
              </a:solidFill>
              <a:latin typeface="Calibri"/>
              <a:ea typeface="Calibri"/>
              <a:cs typeface="Calibri"/>
              <a:sym typeface="Calibri"/>
            </a:endParaRPr>
          </a:p>
        </p:txBody>
      </p:sp>
      <p:sp>
        <p:nvSpPr>
          <p:cNvPr id="328" name="Google Shape;328;p15"/>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References</a:t>
            </a:r>
            <a:endParaRPr sz="4500">
              <a:solidFill>
                <a:schemeClr val="dk1"/>
              </a:solidFill>
              <a:latin typeface="Calibri"/>
              <a:ea typeface="Calibri"/>
              <a:cs typeface="Calibri"/>
              <a:sym typeface="Calibri"/>
            </a:endParaRPr>
          </a:p>
        </p:txBody>
      </p:sp>
      <p:sp>
        <p:nvSpPr>
          <p:cNvPr id="329" name="Google Shape;329;p15"/>
          <p:cNvSpPr/>
          <p:nvPr/>
        </p:nvSpPr>
        <p:spPr>
          <a:xfrm>
            <a:off x="1047750" y="4094797"/>
            <a:ext cx="17811750" cy="395288"/>
          </a:xfrm>
          <a:prstGeom prst="rect">
            <a:avLst/>
          </a:prstGeom>
          <a:noFill/>
          <a:ln>
            <a:noFill/>
          </a:ln>
        </p:spPr>
        <p:txBody>
          <a:bodyPr spcFirstLastPara="1" wrap="square" lIns="25400" tIns="25400" rIns="25400" bIns="25400" anchor="t" anchorCtr="0">
            <a:noAutofit/>
          </a:bodyPr>
          <a:lstStyle/>
          <a:p>
            <a:pPr marL="0" marR="0" lvl="0" indent="0" algn="l" rtl="0">
              <a:lnSpc>
                <a:spcPct val="130207"/>
              </a:lnSpc>
              <a:spcBef>
                <a:spcPts val="0"/>
              </a:spcBef>
              <a:spcAft>
                <a:spcPts val="0"/>
              </a:spcAft>
              <a:buClr>
                <a:srgbClr val="10101B"/>
              </a:buClr>
              <a:buSzPts val="1875"/>
              <a:buFont typeface="Arial"/>
              <a:buNone/>
            </a:pPr>
            <a:r>
              <a:rPr lang="en-US" sz="1875">
                <a:solidFill>
                  <a:srgbClr val="10101B"/>
                </a:solidFill>
              </a:rPr>
              <a:t>[1] Han et al., "VITON: An Image-based virtual try-on network," CVPR, 2018.</a:t>
            </a:r>
            <a:endParaRPr sz="1875">
              <a:solidFill>
                <a:schemeClr val="dk1"/>
              </a:solidFill>
              <a:latin typeface="Calibri"/>
              <a:ea typeface="Calibri"/>
              <a:cs typeface="Calibri"/>
              <a:sym typeface="Calibri"/>
            </a:endParaRPr>
          </a:p>
        </p:txBody>
      </p:sp>
      <p:sp>
        <p:nvSpPr>
          <p:cNvPr id="330" name="Google Shape;330;p15"/>
          <p:cNvSpPr/>
          <p:nvPr/>
        </p:nvSpPr>
        <p:spPr>
          <a:xfrm>
            <a:off x="1047750" y="4661535"/>
            <a:ext cx="17811750" cy="395288"/>
          </a:xfrm>
          <a:prstGeom prst="rect">
            <a:avLst/>
          </a:prstGeom>
          <a:noFill/>
          <a:ln>
            <a:noFill/>
          </a:ln>
        </p:spPr>
        <p:txBody>
          <a:bodyPr spcFirstLastPara="1" wrap="square" lIns="25400" tIns="25400" rIns="25400" bIns="25400" anchor="t" anchorCtr="0">
            <a:noAutofit/>
          </a:bodyPr>
          <a:lstStyle/>
          <a:p>
            <a:pPr marL="0" marR="0" lvl="0" indent="0" algn="l" rtl="0">
              <a:lnSpc>
                <a:spcPct val="130207"/>
              </a:lnSpc>
              <a:spcBef>
                <a:spcPts val="0"/>
              </a:spcBef>
              <a:spcAft>
                <a:spcPts val="0"/>
              </a:spcAft>
              <a:buClr>
                <a:srgbClr val="10101B"/>
              </a:buClr>
              <a:buSzPts val="1875"/>
              <a:buFont typeface="Arial"/>
              <a:buNone/>
            </a:pPr>
            <a:r>
              <a:rPr lang="en-US" sz="1875">
                <a:solidFill>
                  <a:srgbClr val="10101B"/>
                </a:solidFill>
              </a:rPr>
              <a:t>[2] Choi et al., "VITON-HD: High-resolution virtual try-on via misalignment-aware normalization," CVPR, 2021.</a:t>
            </a:r>
            <a:endParaRPr sz="1875">
              <a:solidFill>
                <a:schemeClr val="dk1"/>
              </a:solidFill>
              <a:latin typeface="Calibri"/>
              <a:ea typeface="Calibri"/>
              <a:cs typeface="Calibri"/>
              <a:sym typeface="Calibri"/>
            </a:endParaRPr>
          </a:p>
        </p:txBody>
      </p:sp>
      <p:sp>
        <p:nvSpPr>
          <p:cNvPr id="331" name="Google Shape;331;p15"/>
          <p:cNvSpPr/>
          <p:nvPr/>
        </p:nvSpPr>
        <p:spPr>
          <a:xfrm>
            <a:off x="1047750" y="5228273"/>
            <a:ext cx="17811750" cy="395288"/>
          </a:xfrm>
          <a:prstGeom prst="rect">
            <a:avLst/>
          </a:prstGeom>
          <a:noFill/>
          <a:ln>
            <a:noFill/>
          </a:ln>
        </p:spPr>
        <p:txBody>
          <a:bodyPr spcFirstLastPara="1" wrap="square" lIns="25400" tIns="25400" rIns="25400" bIns="25400" anchor="t" anchorCtr="0">
            <a:noAutofit/>
          </a:bodyPr>
          <a:lstStyle/>
          <a:p>
            <a:pPr marL="0" marR="0" lvl="0" indent="0" algn="l" rtl="0">
              <a:lnSpc>
                <a:spcPct val="130207"/>
              </a:lnSpc>
              <a:spcBef>
                <a:spcPts val="0"/>
              </a:spcBef>
              <a:spcAft>
                <a:spcPts val="0"/>
              </a:spcAft>
              <a:buClr>
                <a:srgbClr val="10101B"/>
              </a:buClr>
              <a:buSzPts val="1875"/>
              <a:buFont typeface="Arial"/>
              <a:buNone/>
            </a:pPr>
            <a:r>
              <a:rPr lang="en-US" sz="1875">
                <a:solidFill>
                  <a:srgbClr val="10101B"/>
                </a:solidFill>
              </a:rPr>
              <a:t>[3] Zhu et al., "TryOnDiffusion: A tale of two unets," CVPR, 2023.</a:t>
            </a:r>
            <a:endParaRPr sz="1875">
              <a:solidFill>
                <a:schemeClr val="dk1"/>
              </a:solidFill>
              <a:latin typeface="Calibri"/>
              <a:ea typeface="Calibri"/>
              <a:cs typeface="Calibri"/>
              <a:sym typeface="Calibri"/>
            </a:endParaRPr>
          </a:p>
        </p:txBody>
      </p:sp>
      <p:sp>
        <p:nvSpPr>
          <p:cNvPr id="332" name="Google Shape;332;p15"/>
          <p:cNvSpPr/>
          <p:nvPr/>
        </p:nvSpPr>
        <p:spPr>
          <a:xfrm>
            <a:off x="1047750" y="5795010"/>
            <a:ext cx="17811750" cy="395288"/>
          </a:xfrm>
          <a:prstGeom prst="rect">
            <a:avLst/>
          </a:prstGeom>
          <a:noFill/>
          <a:ln>
            <a:noFill/>
          </a:ln>
        </p:spPr>
        <p:txBody>
          <a:bodyPr spcFirstLastPara="1" wrap="square" lIns="25400" tIns="25400" rIns="25400" bIns="25400" anchor="t" anchorCtr="0">
            <a:noAutofit/>
          </a:bodyPr>
          <a:lstStyle/>
          <a:p>
            <a:pPr marL="0" marR="0" lvl="0" indent="0" algn="l" rtl="0">
              <a:lnSpc>
                <a:spcPct val="130207"/>
              </a:lnSpc>
              <a:spcBef>
                <a:spcPts val="0"/>
              </a:spcBef>
              <a:spcAft>
                <a:spcPts val="0"/>
              </a:spcAft>
              <a:buClr>
                <a:srgbClr val="10101B"/>
              </a:buClr>
              <a:buSzPts val="1875"/>
              <a:buFont typeface="Arial"/>
              <a:buNone/>
            </a:pPr>
            <a:r>
              <a:rPr lang="en-US" sz="1875">
                <a:solidFill>
                  <a:srgbClr val="10101B"/>
                </a:solidFill>
              </a:rPr>
              <a:t>[4] Bai et al., "Qwen Technical Report," arXiv preprint, 2023.</a:t>
            </a:r>
            <a:endParaRPr sz="1875">
              <a:solidFill>
                <a:schemeClr val="dk1"/>
              </a:solidFill>
              <a:latin typeface="Calibri"/>
              <a:ea typeface="Calibri"/>
              <a:cs typeface="Calibri"/>
              <a:sym typeface="Calibri"/>
            </a:endParaRPr>
          </a:p>
        </p:txBody>
      </p:sp>
      <p:sp>
        <p:nvSpPr>
          <p:cNvPr id="333" name="Google Shape;333;p15"/>
          <p:cNvSpPr/>
          <p:nvPr/>
        </p:nvSpPr>
        <p:spPr>
          <a:xfrm>
            <a:off x="1047750" y="6361748"/>
            <a:ext cx="17811750" cy="395288"/>
          </a:xfrm>
          <a:prstGeom prst="rect">
            <a:avLst/>
          </a:prstGeom>
          <a:noFill/>
          <a:ln>
            <a:noFill/>
          </a:ln>
        </p:spPr>
        <p:txBody>
          <a:bodyPr spcFirstLastPara="1" wrap="square" lIns="25400" tIns="25400" rIns="25400" bIns="25400" anchor="t" anchorCtr="0">
            <a:noAutofit/>
          </a:bodyPr>
          <a:lstStyle/>
          <a:p>
            <a:pPr marL="0" marR="0" lvl="0" indent="0" algn="l" rtl="0">
              <a:lnSpc>
                <a:spcPct val="130207"/>
              </a:lnSpc>
              <a:spcBef>
                <a:spcPts val="0"/>
              </a:spcBef>
              <a:spcAft>
                <a:spcPts val="0"/>
              </a:spcAft>
              <a:buClr>
                <a:srgbClr val="10101B"/>
              </a:buClr>
              <a:buSzPts val="1875"/>
              <a:buFont typeface="Arial"/>
              <a:buNone/>
            </a:pPr>
            <a:r>
              <a:rPr lang="en-US" sz="1875">
                <a:solidFill>
                  <a:srgbClr val="10101B"/>
                </a:solidFill>
              </a:rPr>
              <a:t>[5] Paszke et al., "PyTorch: An Imperative Style, High-Performance Deep Learning Library," NeurIPS, 2019.</a:t>
            </a:r>
            <a:endParaRPr sz="1875">
              <a:solidFill>
                <a:schemeClr val="dk1"/>
              </a:solidFill>
              <a:latin typeface="Calibri"/>
              <a:ea typeface="Calibri"/>
              <a:cs typeface="Calibri"/>
              <a:sym typeface="Calibri"/>
            </a:endParaRPr>
          </a:p>
        </p:txBody>
      </p:sp>
      <p:sp>
        <p:nvSpPr>
          <p:cNvPr id="334" name="Google Shape;334;p15"/>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5" name="Google Shape;335;p15"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336" name="Google Shape;336;p15"/>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337" name="Google Shape;337;p15"/>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13 / 15</a:t>
            </a:r>
            <a:endParaRPr sz="165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2"/>
        <p:cNvGrpSpPr/>
        <p:nvPr/>
      </p:nvGrpSpPr>
      <p:grpSpPr>
        <a:xfrm>
          <a:off x="0" y="0"/>
          <a:ext cx="0" cy="0"/>
          <a:chOff x="0" y="0"/>
          <a:chExt cx="0" cy="0"/>
        </a:xfrm>
      </p:grpSpPr>
      <p:sp>
        <p:nvSpPr>
          <p:cNvPr id="343" name="Google Shape;343;p16"/>
          <p:cNvSpPr/>
          <p:nvPr/>
        </p:nvSpPr>
        <p:spPr>
          <a:xfrm>
            <a:off x="1047750" y="857250"/>
            <a:ext cx="17811750" cy="312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200FF"/>
              </a:buClr>
              <a:buSzPts val="1875"/>
              <a:buFont typeface="Arial"/>
              <a:buNone/>
            </a:pPr>
            <a:r>
              <a:rPr lang="en-US" sz="1875" b="1">
                <a:solidFill>
                  <a:srgbClr val="1200FF"/>
                </a:solidFill>
                <a:latin typeface="Arial"/>
                <a:ea typeface="Arial"/>
                <a:cs typeface="Arial"/>
                <a:sym typeface="Arial"/>
              </a:rPr>
              <a:t>12 — ACKNOWLEDGEMENT</a:t>
            </a:r>
            <a:endParaRPr sz="1875">
              <a:solidFill>
                <a:schemeClr val="dk1"/>
              </a:solidFill>
              <a:latin typeface="Calibri"/>
              <a:ea typeface="Calibri"/>
              <a:cs typeface="Calibri"/>
              <a:sym typeface="Calibri"/>
            </a:endParaRPr>
          </a:p>
        </p:txBody>
      </p:sp>
      <p:sp>
        <p:nvSpPr>
          <p:cNvPr id="344" name="Google Shape;344;p16"/>
          <p:cNvSpPr/>
          <p:nvPr/>
        </p:nvSpPr>
        <p:spPr>
          <a:xfrm>
            <a:off x="1047750" y="1264920"/>
            <a:ext cx="17811750" cy="6934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10101B"/>
              </a:buClr>
              <a:buSzPts val="4500"/>
              <a:buFont typeface="Arial"/>
              <a:buNone/>
            </a:pPr>
            <a:r>
              <a:rPr lang="en-US" sz="4500" b="1">
                <a:solidFill>
                  <a:srgbClr val="10101B"/>
                </a:solidFill>
                <a:latin typeface="Arial"/>
                <a:ea typeface="Arial"/>
                <a:cs typeface="Arial"/>
                <a:sym typeface="Arial"/>
              </a:rPr>
              <a:t>Acknowledgement</a:t>
            </a:r>
            <a:endParaRPr sz="4500">
              <a:solidFill>
                <a:schemeClr val="dk1"/>
              </a:solidFill>
              <a:latin typeface="Calibri"/>
              <a:ea typeface="Calibri"/>
              <a:cs typeface="Calibri"/>
              <a:sym typeface="Calibri"/>
            </a:endParaRPr>
          </a:p>
        </p:txBody>
      </p:sp>
      <p:sp>
        <p:nvSpPr>
          <p:cNvPr id="345" name="Google Shape;345;p16"/>
          <p:cNvSpPr/>
          <p:nvPr/>
        </p:nvSpPr>
        <p:spPr>
          <a:xfrm>
            <a:off x="1047750" y="3083973"/>
            <a:ext cx="13342500" cy="3349200"/>
          </a:xfrm>
          <a:prstGeom prst="rect">
            <a:avLst/>
          </a:prstGeom>
          <a:noFill/>
          <a:ln>
            <a:noFill/>
          </a:ln>
        </p:spPr>
        <p:txBody>
          <a:bodyPr spcFirstLastPara="1" wrap="square" lIns="25400" tIns="25400" rIns="25400" bIns="25400" anchor="t" anchorCtr="0">
            <a:noAutofit/>
          </a:bodyPr>
          <a:lstStyle/>
          <a:p>
            <a:pPr marL="0" marR="0" lvl="0" indent="0" algn="l" rtl="0">
              <a:lnSpc>
                <a:spcPct val="137931"/>
              </a:lnSpc>
              <a:spcBef>
                <a:spcPts val="0"/>
              </a:spcBef>
              <a:spcAft>
                <a:spcPts val="0"/>
              </a:spcAft>
              <a:buClr>
                <a:srgbClr val="10101B"/>
              </a:buClr>
              <a:buSzPts val="3000"/>
              <a:buFont typeface="Arial"/>
              <a:buNone/>
            </a:pPr>
            <a:r>
              <a:rPr lang="en-US" sz="3000">
                <a:solidFill>
                  <a:srgbClr val="10101B"/>
                </a:solidFill>
              </a:rPr>
              <a:t>I would like to express my deepest gratitude to my supervisor, Dr. Mohammad Amanul Islam, for his invaluable guidance, continuous encouragement, and insightful feedback throughout the entire lifecycle of this project. </a:t>
            </a:r>
            <a:endParaRPr sz="3000">
              <a:solidFill>
                <a:srgbClr val="10101B"/>
              </a:solidFill>
            </a:endParaRPr>
          </a:p>
          <a:p>
            <a:pPr marL="0" marR="0" lvl="0" indent="0" algn="l" rtl="0">
              <a:lnSpc>
                <a:spcPct val="137931"/>
              </a:lnSpc>
              <a:spcBef>
                <a:spcPts val="0"/>
              </a:spcBef>
              <a:spcAft>
                <a:spcPts val="0"/>
              </a:spcAft>
              <a:buClr>
                <a:srgbClr val="10101B"/>
              </a:buClr>
              <a:buSzPts val="3000"/>
              <a:buFont typeface="Arial"/>
              <a:buNone/>
            </a:pPr>
            <a:r>
              <a:rPr lang="en-US" sz="3000">
                <a:solidFill>
                  <a:srgbClr val="10101B"/>
                </a:solidFill>
              </a:rPr>
              <a:t>I also extend my sincere thanks to the faculty members and staff of the Department of Computer Science &amp; Engineering, Uttara University, for providing a stimulating academic environment. </a:t>
            </a:r>
            <a:endParaRPr sz="3000">
              <a:solidFill>
                <a:srgbClr val="10101B"/>
              </a:solidFill>
            </a:endParaRPr>
          </a:p>
          <a:p>
            <a:pPr marL="0" marR="0" lvl="0" indent="0" algn="l" rtl="0">
              <a:lnSpc>
                <a:spcPct val="137931"/>
              </a:lnSpc>
              <a:spcBef>
                <a:spcPts val="0"/>
              </a:spcBef>
              <a:spcAft>
                <a:spcPts val="0"/>
              </a:spcAft>
              <a:buClr>
                <a:srgbClr val="10101B"/>
              </a:buClr>
              <a:buSzPts val="3000"/>
              <a:buFont typeface="Arial"/>
              <a:buNone/>
            </a:pPr>
            <a:r>
              <a:rPr lang="en-US" sz="3000">
                <a:solidFill>
                  <a:srgbClr val="10101B"/>
                </a:solidFill>
              </a:rPr>
              <a:t>Finally, special thanks to my family and friends for their unwavering moral support and belief in my abilities</a:t>
            </a:r>
            <a:endParaRPr sz="3000">
              <a:solidFill>
                <a:srgbClr val="10101B"/>
              </a:solidFill>
            </a:endParaRPr>
          </a:p>
        </p:txBody>
      </p:sp>
      <p:sp>
        <p:nvSpPr>
          <p:cNvPr id="346" name="Google Shape;346;p16"/>
          <p:cNvSpPr/>
          <p:nvPr/>
        </p:nvSpPr>
        <p:spPr>
          <a:xfrm>
            <a:off x="1047750" y="9041130"/>
            <a:ext cx="16192500" cy="9525"/>
          </a:xfrm>
          <a:prstGeom prst="rect">
            <a:avLst/>
          </a:prstGeom>
          <a:solidFill>
            <a:srgbClr val="E1E3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7" name="Google Shape;347;p16" descr="preencoded.png"/>
          <p:cNvPicPr preferRelativeResize="0"/>
          <p:nvPr/>
        </p:nvPicPr>
        <p:blipFill rotWithShape="1">
          <a:blip r:embed="rId3">
            <a:alphaModFix/>
          </a:blip>
          <a:srcRect/>
          <a:stretch/>
        </p:blipFill>
        <p:spPr>
          <a:xfrm>
            <a:off x="1047750" y="9315450"/>
            <a:ext cx="553283" cy="304800"/>
          </a:xfrm>
          <a:prstGeom prst="rect">
            <a:avLst/>
          </a:prstGeom>
          <a:noFill/>
          <a:ln>
            <a:noFill/>
          </a:ln>
        </p:spPr>
      </p:pic>
      <p:sp>
        <p:nvSpPr>
          <p:cNvPr id="348" name="Google Shape;348;p16"/>
          <p:cNvSpPr/>
          <p:nvPr/>
        </p:nvSpPr>
        <p:spPr>
          <a:xfrm>
            <a:off x="1734384" y="9345930"/>
            <a:ext cx="3907060"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Department of CSE · Uttara University</a:t>
            </a:r>
            <a:endParaRPr sz="1650">
              <a:solidFill>
                <a:schemeClr val="dk1"/>
              </a:solidFill>
              <a:latin typeface="Calibri"/>
              <a:ea typeface="Calibri"/>
              <a:cs typeface="Calibri"/>
              <a:sym typeface="Calibri"/>
            </a:endParaRPr>
          </a:p>
        </p:txBody>
      </p:sp>
      <p:sp>
        <p:nvSpPr>
          <p:cNvPr id="349" name="Google Shape;349;p16"/>
          <p:cNvSpPr/>
          <p:nvPr/>
        </p:nvSpPr>
        <p:spPr>
          <a:xfrm>
            <a:off x="16599337" y="9345930"/>
            <a:ext cx="717113" cy="2819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4A4A5C"/>
              </a:buClr>
              <a:buSzPts val="1650"/>
              <a:buFont typeface="Arial"/>
              <a:buNone/>
            </a:pPr>
            <a:r>
              <a:rPr lang="en-US" sz="1650">
                <a:solidFill>
                  <a:srgbClr val="4A4A5C"/>
                </a:solidFill>
                <a:latin typeface="Arial"/>
                <a:ea typeface="Arial"/>
                <a:cs typeface="Arial"/>
                <a:sym typeface="Arial"/>
              </a:rPr>
              <a:t>14 / 15</a:t>
            </a:r>
            <a:endParaRPr sz="16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00FF"/>
        </a:solidFill>
        <a:effectLst/>
      </p:bgPr>
    </p:bg>
    <p:spTree>
      <p:nvGrpSpPr>
        <p:cNvPr id="1" name="Shape 354"/>
        <p:cNvGrpSpPr/>
        <p:nvPr/>
      </p:nvGrpSpPr>
      <p:grpSpPr>
        <a:xfrm>
          <a:off x="0" y="0"/>
          <a:ext cx="0" cy="0"/>
          <a:chOff x="0" y="0"/>
          <a:chExt cx="0" cy="0"/>
        </a:xfrm>
      </p:grpSpPr>
      <p:sp>
        <p:nvSpPr>
          <p:cNvPr id="355" name="Google Shape;355;p17"/>
          <p:cNvSpPr/>
          <p:nvPr/>
        </p:nvSpPr>
        <p:spPr>
          <a:xfrm>
            <a:off x="14097000" y="6477000"/>
            <a:ext cx="5905500" cy="5905500"/>
          </a:xfrm>
          <a:prstGeom prst="ellipse">
            <a:avLst/>
          </a:prstGeom>
          <a:solidFill>
            <a:srgbClr val="FFFFFF">
              <a:alpha val="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7"/>
          <p:cNvSpPr/>
          <p:nvPr/>
        </p:nvSpPr>
        <p:spPr>
          <a:xfrm>
            <a:off x="-1524000" y="-1905000"/>
            <a:ext cx="4572000" cy="4572000"/>
          </a:xfrm>
          <a:prstGeom prst="ellipse">
            <a:avLst/>
          </a:prstGeom>
          <a:solidFill>
            <a:srgbClr val="FFFFFF">
              <a:alpha val="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7" name="Google Shape;357;p17" descr="preencoded.png"/>
          <p:cNvPicPr preferRelativeResize="0"/>
          <p:nvPr/>
        </p:nvPicPr>
        <p:blipFill rotWithShape="1">
          <a:blip r:embed="rId3">
            <a:alphaModFix/>
          </a:blip>
          <a:srcRect/>
          <a:stretch/>
        </p:blipFill>
        <p:spPr>
          <a:xfrm>
            <a:off x="8556070" y="3394710"/>
            <a:ext cx="1175742" cy="647700"/>
          </a:xfrm>
          <a:prstGeom prst="rect">
            <a:avLst/>
          </a:prstGeom>
          <a:noFill/>
          <a:ln>
            <a:noFill/>
          </a:ln>
        </p:spPr>
      </p:pic>
      <p:sp>
        <p:nvSpPr>
          <p:cNvPr id="358" name="Google Shape;358;p17"/>
          <p:cNvSpPr/>
          <p:nvPr/>
        </p:nvSpPr>
        <p:spPr>
          <a:xfrm>
            <a:off x="6714929" y="4480560"/>
            <a:ext cx="4858024" cy="112776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FFFFFF"/>
              </a:buClr>
              <a:buSzPts val="7500"/>
              <a:buFont typeface="Arial"/>
              <a:buNone/>
            </a:pPr>
            <a:r>
              <a:rPr lang="en-US" sz="7500" b="1">
                <a:solidFill>
                  <a:srgbClr val="FFFFFF"/>
                </a:solidFill>
                <a:latin typeface="Arial"/>
                <a:ea typeface="Arial"/>
                <a:cs typeface="Arial"/>
                <a:sym typeface="Arial"/>
              </a:rPr>
              <a:t>Thank You</a:t>
            </a:r>
            <a:endParaRPr sz="7500">
              <a:solidFill>
                <a:schemeClr val="dk1"/>
              </a:solidFill>
              <a:latin typeface="Calibri"/>
              <a:ea typeface="Calibri"/>
              <a:cs typeface="Calibri"/>
              <a:sym typeface="Calibri"/>
            </a:endParaRPr>
          </a:p>
        </p:txBody>
      </p:sp>
      <p:sp>
        <p:nvSpPr>
          <p:cNvPr id="359" name="Google Shape;359;p17"/>
          <p:cNvSpPr/>
          <p:nvPr/>
        </p:nvSpPr>
        <p:spPr>
          <a:xfrm>
            <a:off x="7041696" y="5760720"/>
            <a:ext cx="4204490" cy="4572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FFFFFF"/>
              </a:buClr>
              <a:buSzPts val="2850"/>
              <a:buFont typeface="Arial"/>
              <a:buNone/>
            </a:pPr>
            <a:r>
              <a:rPr lang="en-US" sz="2850">
                <a:solidFill>
                  <a:srgbClr val="FFFFFF"/>
                </a:solidFill>
                <a:latin typeface="Arial"/>
                <a:ea typeface="Arial"/>
                <a:cs typeface="Arial"/>
                <a:sym typeface="Arial"/>
              </a:rPr>
              <a:t>Questions &amp; Discussion</a:t>
            </a:r>
            <a:endParaRPr sz="2850">
              <a:solidFill>
                <a:schemeClr val="dk1"/>
              </a:solidFill>
              <a:latin typeface="Calibri"/>
              <a:ea typeface="Calibri"/>
              <a:cs typeface="Calibri"/>
              <a:sym typeface="Calibri"/>
            </a:endParaRPr>
          </a:p>
        </p:txBody>
      </p:sp>
      <p:sp>
        <p:nvSpPr>
          <p:cNvPr id="360" name="Google Shape;360;p17"/>
          <p:cNvSpPr/>
          <p:nvPr/>
        </p:nvSpPr>
        <p:spPr>
          <a:xfrm>
            <a:off x="5744712" y="6751320"/>
            <a:ext cx="6798457" cy="31242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FFFFFF"/>
              </a:buClr>
              <a:buSzPts val="1875"/>
              <a:buFont typeface="Arial"/>
              <a:buNone/>
            </a:pPr>
            <a:r>
              <a:rPr lang="en-US" sz="1875">
                <a:solidFill>
                  <a:srgbClr val="FFFFFF"/>
                </a:solidFill>
              </a:rPr>
              <a:t>MD. KHALED AHMED SANTO</a:t>
            </a:r>
            <a:r>
              <a:rPr lang="en-US" sz="1875">
                <a:solidFill>
                  <a:srgbClr val="FFFFFF"/>
                </a:solidFill>
                <a:latin typeface="Arial"/>
                <a:ea typeface="Arial"/>
                <a:cs typeface="Arial"/>
                <a:sym typeface="Arial"/>
              </a:rPr>
              <a:t> </a:t>
            </a:r>
            <a:r>
              <a:rPr lang="en-US" sz="1875">
                <a:solidFill>
                  <a:srgbClr val="FFFFFF"/>
                </a:solidFill>
              </a:rPr>
              <a:t>2222081069</a:t>
            </a:r>
            <a:r>
              <a:rPr lang="en-US" sz="1875">
                <a:solidFill>
                  <a:srgbClr val="FFFFFF"/>
                </a:solidFill>
                <a:latin typeface="Arial"/>
                <a:ea typeface="Arial"/>
                <a:cs typeface="Arial"/>
                <a:sym typeface="Arial"/>
              </a:rPr>
              <a:t>@uttarauniversity.edu.bd</a:t>
            </a:r>
            <a:endParaRPr sz="1875">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1792</Words>
  <Application>Microsoft Office PowerPoint</Application>
  <PresentationFormat>Custom</PresentationFormat>
  <Paragraphs>231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TANJIL HOWLADER</dc:creator>
  <cp:lastModifiedBy>TANJIL HOWLADER</cp:lastModifiedBy>
  <cp:revision>1</cp:revision>
  <dcterms:modified xsi:type="dcterms:W3CDTF">2026-07-22T09:06:56Z</dcterms:modified>
</cp:coreProperties>
</file>